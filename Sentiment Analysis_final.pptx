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9" r:id="rId3"/>
    <p:sldId id="285" r:id="rId4"/>
    <p:sldId id="261" r:id="rId5"/>
    <p:sldId id="268" r:id="rId6"/>
    <p:sldId id="263" r:id="rId7"/>
    <p:sldId id="257" r:id="rId8"/>
    <p:sldId id="264" r:id="rId9"/>
    <p:sldId id="272" r:id="rId10"/>
    <p:sldId id="273" r:id="rId11"/>
    <p:sldId id="271" r:id="rId12"/>
    <p:sldId id="274" r:id="rId13"/>
    <p:sldId id="270" r:id="rId14"/>
    <p:sldId id="287" r:id="rId15"/>
    <p:sldId id="290" r:id="rId16"/>
    <p:sldId id="262" r:id="rId17"/>
    <p:sldId id="275" r:id="rId18"/>
    <p:sldId id="280" r:id="rId19"/>
    <p:sldId id="282" r:id="rId20"/>
    <p:sldId id="284" r:id="rId21"/>
    <p:sldId id="278" r:id="rId22"/>
    <p:sldId id="286" r:id="rId23"/>
    <p:sldId id="277" r:id="rId24"/>
    <p:sldId id="281" r:id="rId25"/>
    <p:sldId id="266" r:id="rId26"/>
    <p:sldId id="258" r:id="rId27"/>
    <p:sldId id="288" r:id="rId28"/>
    <p:sldId id="289" r:id="rId29"/>
    <p:sldId id="29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B4C7E7"/>
    <a:srgbClr val="00437C"/>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189" autoAdjust="0"/>
    <p:restoredTop sz="89850" autoAdjust="0"/>
  </p:normalViewPr>
  <p:slideViewPr>
    <p:cSldViewPr snapToGrid="0">
      <p:cViewPr varScale="1">
        <p:scale>
          <a:sx n="78" d="100"/>
          <a:sy n="78" d="100"/>
        </p:scale>
        <p:origin x="50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149E1B-92DE-4137-ADF4-EE00B0DB2ADA}" type="datetimeFigureOut">
              <a:rPr lang="en-US" smtClean="0"/>
              <a:t>11/26/2018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1E9875-39C0-4D74-A00C-3D923E364E58}" type="slidenum">
              <a:rPr lang="en-US" smtClean="0"/>
              <a:t>‹#›</a:t>
            </a:fld>
            <a:endParaRPr lang="en-US"/>
          </a:p>
        </p:txBody>
      </p:sp>
    </p:spTree>
    <p:extLst>
      <p:ext uri="{BB962C8B-B14F-4D97-AF65-F5344CB8AC3E}">
        <p14:creationId xmlns:p14="http://schemas.microsoft.com/office/powerpoint/2010/main" val="2979578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 I’m Parag. I’m here with my group members </a:t>
            </a:r>
            <a:r>
              <a:rPr lang="en-US" dirty="0" err="1"/>
              <a:t>Yushan</a:t>
            </a:r>
            <a:r>
              <a:rPr lang="en-US" dirty="0"/>
              <a:t>, Vinay, Mayuresh, Madhura, </a:t>
            </a:r>
            <a:r>
              <a:rPr lang="en-US" dirty="0" err="1"/>
              <a:t>Drashti</a:t>
            </a:r>
            <a:r>
              <a:rPr lang="en-US" dirty="0"/>
              <a:t>. We are group 2 and we’re here to present our sentiment analysis on music app review.</a:t>
            </a:r>
          </a:p>
        </p:txBody>
      </p:sp>
      <p:sp>
        <p:nvSpPr>
          <p:cNvPr id="4" name="Slide Number Placeholder 3"/>
          <p:cNvSpPr>
            <a:spLocks noGrp="1"/>
          </p:cNvSpPr>
          <p:nvPr>
            <p:ph type="sldNum" sz="quarter" idx="5"/>
          </p:nvPr>
        </p:nvSpPr>
        <p:spPr/>
        <p:txBody>
          <a:bodyPr/>
          <a:lstStyle/>
          <a:p>
            <a:fld id="{541E9875-39C0-4D74-A00C-3D923E364E58}" type="slidenum">
              <a:rPr lang="en-US" smtClean="0"/>
              <a:t>1</a:t>
            </a:fld>
            <a:endParaRPr lang="en-US"/>
          </a:p>
        </p:txBody>
      </p:sp>
    </p:spTree>
    <p:extLst>
      <p:ext uri="{BB962C8B-B14F-4D97-AF65-F5344CB8AC3E}">
        <p14:creationId xmlns:p14="http://schemas.microsoft.com/office/powerpoint/2010/main" val="1535969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agenda for our presentation today. During our presentation we will go through the motivation for our business question, then we will discuss our business question. After that we will discuss the methodology we adopted and the analysis we did to answer our business question. And finally we will discuss the key takeaways from our analysis.</a:t>
            </a:r>
          </a:p>
        </p:txBody>
      </p:sp>
      <p:sp>
        <p:nvSpPr>
          <p:cNvPr id="4" name="Slide Number Placeholder 3"/>
          <p:cNvSpPr>
            <a:spLocks noGrp="1"/>
          </p:cNvSpPr>
          <p:nvPr>
            <p:ph type="sldNum" sz="quarter" idx="5"/>
          </p:nvPr>
        </p:nvSpPr>
        <p:spPr/>
        <p:txBody>
          <a:bodyPr/>
          <a:lstStyle/>
          <a:p>
            <a:fld id="{541E9875-39C0-4D74-A00C-3D923E364E58}" type="slidenum">
              <a:rPr lang="en-US" smtClean="0"/>
              <a:t>2</a:t>
            </a:fld>
            <a:endParaRPr lang="en-US"/>
          </a:p>
        </p:txBody>
      </p:sp>
    </p:spTree>
    <p:extLst>
      <p:ext uri="{BB962C8B-B14F-4D97-AF65-F5344CB8AC3E}">
        <p14:creationId xmlns:p14="http://schemas.microsoft.com/office/powerpoint/2010/main" val="1181043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deep dive into the business question, Here’s a small video which is one of the motivation behind choosing this business question. After that clip, my team member </a:t>
            </a:r>
            <a:r>
              <a:rPr lang="en-US" dirty="0" err="1"/>
              <a:t>Yushan</a:t>
            </a:r>
            <a:r>
              <a:rPr lang="en-US" dirty="0"/>
              <a:t> will share our business question with you.</a:t>
            </a:r>
          </a:p>
        </p:txBody>
      </p:sp>
      <p:sp>
        <p:nvSpPr>
          <p:cNvPr id="4" name="Slide Number Placeholder 3"/>
          <p:cNvSpPr>
            <a:spLocks noGrp="1"/>
          </p:cNvSpPr>
          <p:nvPr>
            <p:ph type="sldNum" sz="quarter" idx="5"/>
          </p:nvPr>
        </p:nvSpPr>
        <p:spPr/>
        <p:txBody>
          <a:bodyPr/>
          <a:lstStyle/>
          <a:p>
            <a:fld id="{541E9875-39C0-4D74-A00C-3D923E364E58}" type="slidenum">
              <a:rPr lang="en-US" smtClean="0"/>
              <a:t>3</a:t>
            </a:fld>
            <a:endParaRPr lang="en-US"/>
          </a:p>
        </p:txBody>
      </p:sp>
    </p:spTree>
    <p:extLst>
      <p:ext uri="{BB962C8B-B14F-4D97-AF65-F5344CB8AC3E}">
        <p14:creationId xmlns:p14="http://schemas.microsoft.com/office/powerpoint/2010/main" val="3913198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1E9875-39C0-4D74-A00C-3D923E364E58}" type="slidenum">
              <a:rPr lang="en-US" smtClean="0"/>
              <a:t>5</a:t>
            </a:fld>
            <a:endParaRPr lang="en-US"/>
          </a:p>
        </p:txBody>
      </p:sp>
    </p:spTree>
    <p:extLst>
      <p:ext uri="{BB962C8B-B14F-4D97-AF65-F5344CB8AC3E}">
        <p14:creationId xmlns:p14="http://schemas.microsoft.com/office/powerpoint/2010/main" val="3256325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Reviews are from the consumers who have used/is using one or more than one of the following music applications – Amazon Music, Pandora and Spotify</a:t>
            </a:r>
          </a:p>
          <a:p>
            <a:r>
              <a:rPr lang="en-US" dirty="0"/>
              <a:t>We cleaned the data/reviews to standardize the reviews. Mention text mining </a:t>
            </a:r>
          </a:p>
        </p:txBody>
      </p:sp>
      <p:sp>
        <p:nvSpPr>
          <p:cNvPr id="4" name="Slide Number Placeholder 3"/>
          <p:cNvSpPr>
            <a:spLocks noGrp="1"/>
          </p:cNvSpPr>
          <p:nvPr>
            <p:ph type="sldNum" sz="quarter" idx="5"/>
          </p:nvPr>
        </p:nvSpPr>
        <p:spPr/>
        <p:txBody>
          <a:bodyPr/>
          <a:lstStyle/>
          <a:p>
            <a:fld id="{541E9875-39C0-4D74-A00C-3D923E364E58}" type="slidenum">
              <a:rPr lang="en-US" smtClean="0"/>
              <a:t>7</a:t>
            </a:fld>
            <a:endParaRPr lang="en-US"/>
          </a:p>
        </p:txBody>
      </p:sp>
    </p:spTree>
    <p:extLst>
      <p:ext uri="{BB962C8B-B14F-4D97-AF65-F5344CB8AC3E}">
        <p14:creationId xmlns:p14="http://schemas.microsoft.com/office/powerpoint/2010/main" val="792965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cloud was done to see what the consumers were talking about since 2011 – 2015. And since </a:t>
            </a:r>
          </a:p>
        </p:txBody>
      </p:sp>
      <p:sp>
        <p:nvSpPr>
          <p:cNvPr id="4" name="Slide Number Placeholder 3"/>
          <p:cNvSpPr>
            <a:spLocks noGrp="1"/>
          </p:cNvSpPr>
          <p:nvPr>
            <p:ph type="sldNum" sz="quarter" idx="5"/>
          </p:nvPr>
        </p:nvSpPr>
        <p:spPr/>
        <p:txBody>
          <a:bodyPr/>
          <a:lstStyle/>
          <a:p>
            <a:fld id="{541E9875-39C0-4D74-A00C-3D923E364E58}" type="slidenum">
              <a:rPr lang="en-US" smtClean="0"/>
              <a:t>11</a:t>
            </a:fld>
            <a:endParaRPr lang="en-US"/>
          </a:p>
        </p:txBody>
      </p:sp>
    </p:spTree>
    <p:extLst>
      <p:ext uri="{BB962C8B-B14F-4D97-AF65-F5344CB8AC3E}">
        <p14:creationId xmlns:p14="http://schemas.microsoft.com/office/powerpoint/2010/main" val="2846936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cloud was done to see what the consumers were talking about since 2011 – 2015. And since </a:t>
            </a:r>
          </a:p>
        </p:txBody>
      </p:sp>
      <p:sp>
        <p:nvSpPr>
          <p:cNvPr id="4" name="Slide Number Placeholder 3"/>
          <p:cNvSpPr>
            <a:spLocks noGrp="1"/>
          </p:cNvSpPr>
          <p:nvPr>
            <p:ph type="sldNum" sz="quarter" idx="5"/>
          </p:nvPr>
        </p:nvSpPr>
        <p:spPr/>
        <p:txBody>
          <a:bodyPr/>
          <a:lstStyle/>
          <a:p>
            <a:fld id="{541E9875-39C0-4D74-A00C-3D923E364E58}" type="slidenum">
              <a:rPr lang="en-US" smtClean="0"/>
              <a:t>14</a:t>
            </a:fld>
            <a:endParaRPr lang="en-US"/>
          </a:p>
        </p:txBody>
      </p:sp>
    </p:spTree>
    <p:extLst>
      <p:ext uri="{BB962C8B-B14F-4D97-AF65-F5344CB8AC3E}">
        <p14:creationId xmlns:p14="http://schemas.microsoft.com/office/powerpoint/2010/main" val="18705750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1E9875-39C0-4D74-A00C-3D923E364E58}" type="slidenum">
              <a:rPr lang="en-US" smtClean="0"/>
              <a:t>17</a:t>
            </a:fld>
            <a:endParaRPr lang="en-US"/>
          </a:p>
        </p:txBody>
      </p:sp>
    </p:spTree>
    <p:extLst>
      <p:ext uri="{BB962C8B-B14F-4D97-AF65-F5344CB8AC3E}">
        <p14:creationId xmlns:p14="http://schemas.microsoft.com/office/powerpoint/2010/main" val="2583254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1E9875-39C0-4D74-A00C-3D923E364E58}" type="slidenum">
              <a:rPr lang="en-US" smtClean="0"/>
              <a:t>26</a:t>
            </a:fld>
            <a:endParaRPr lang="en-US"/>
          </a:p>
        </p:txBody>
      </p:sp>
    </p:spTree>
    <p:extLst>
      <p:ext uri="{BB962C8B-B14F-4D97-AF65-F5344CB8AC3E}">
        <p14:creationId xmlns:p14="http://schemas.microsoft.com/office/powerpoint/2010/main" val="503463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D13EA-3E96-491F-B01C-90A36F651D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4601FD-E1A7-4B8C-A88F-51652C7FCB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BDA7BC-285E-493C-A2B2-01B2D3872A78}"/>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5" name="Footer Placeholder 4">
            <a:extLst>
              <a:ext uri="{FF2B5EF4-FFF2-40B4-BE49-F238E27FC236}">
                <a16:creationId xmlns:a16="http://schemas.microsoft.com/office/drawing/2014/main" id="{465A1AF1-CC21-406F-9ED4-269EB7B10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BC5E30-1C91-43DF-88BD-2B9DFD2AF1B1}"/>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22556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A0F51-7491-475E-A145-8145E49714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A5FB10-17C5-48C1-989D-4F2188BBE9B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80E7F-FA67-47DD-BAB6-DE8A3F708A09}"/>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5" name="Footer Placeholder 4">
            <a:extLst>
              <a:ext uri="{FF2B5EF4-FFF2-40B4-BE49-F238E27FC236}">
                <a16:creationId xmlns:a16="http://schemas.microsoft.com/office/drawing/2014/main" id="{C27C7DF5-DC91-41D2-B480-889BA3C18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563C7B-A1BD-48A4-8D16-D5161450DD70}"/>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2152731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541DB-6286-475A-83A7-0C90A91475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82F471-38FD-4B52-87DC-4058E544F9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ADA7D1B-0F6F-4294-9B58-56CE1F8BED01}"/>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5" name="Footer Placeholder 4">
            <a:extLst>
              <a:ext uri="{FF2B5EF4-FFF2-40B4-BE49-F238E27FC236}">
                <a16:creationId xmlns:a16="http://schemas.microsoft.com/office/drawing/2014/main" id="{EEAE180C-EFEC-4D47-8E5C-17B2BCF83C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5AF33-1BC8-44A3-9364-9E8B19A296D1}"/>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2459064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5E18-A090-4BF9-A492-81362446C6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CC4DE-EDD7-4FDE-8E75-E6B890BB9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EB0A08-94CE-408B-A991-5E1FDC15729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7D7724-F780-4A26-AF78-55442435BE7C}"/>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6" name="Footer Placeholder 5">
            <a:extLst>
              <a:ext uri="{FF2B5EF4-FFF2-40B4-BE49-F238E27FC236}">
                <a16:creationId xmlns:a16="http://schemas.microsoft.com/office/drawing/2014/main" id="{9EA42525-8798-4BC2-86AE-5E9B6C49EA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FF0942-0439-492F-80D7-09B1370E08F4}"/>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333714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B9A9F-CD7C-47B4-9E3D-F0A4E24D69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04C0B1-AEF6-4F19-B917-958F163A5A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5FF2121-AEA0-4C38-9E93-5AF6ED21137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E8D160-FE55-4F7C-849F-523299B20D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8DA7A9-5EA4-4519-B3D2-5549F3AB863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6E4795-A7A5-4305-A580-4128A4301088}"/>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8" name="Footer Placeholder 7">
            <a:extLst>
              <a:ext uri="{FF2B5EF4-FFF2-40B4-BE49-F238E27FC236}">
                <a16:creationId xmlns:a16="http://schemas.microsoft.com/office/drawing/2014/main" id="{84E3500D-797A-4B60-94C9-6D1E66D9D0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916A52-A668-4E34-BC18-300511B5CD13}"/>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4011957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91294-345B-4294-A289-54123ECCEED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3ECBA9-BE0E-4BF1-9CCC-9BCAA7918BF7}"/>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4" name="Footer Placeholder 3">
            <a:extLst>
              <a:ext uri="{FF2B5EF4-FFF2-40B4-BE49-F238E27FC236}">
                <a16:creationId xmlns:a16="http://schemas.microsoft.com/office/drawing/2014/main" id="{504A3CA7-4F67-46C7-814C-5CFBC66DC0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263F7E-69DF-452A-8ED1-45A725FA0812}"/>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69536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2A006B-DF83-4308-991F-24033ED02CF3}"/>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3" name="Footer Placeholder 2">
            <a:extLst>
              <a:ext uri="{FF2B5EF4-FFF2-40B4-BE49-F238E27FC236}">
                <a16:creationId xmlns:a16="http://schemas.microsoft.com/office/drawing/2014/main" id="{01F8489C-B43B-493E-852B-2B574C016E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6E7638-113A-404D-BE61-3632F69D5461}"/>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323539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86307-0974-42B4-9AF4-818DFC9DCC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B700D4-1831-43EB-B757-B7FFAD6B5B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5F88E9-DC2D-4621-A643-EE3C3E6A1E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D117C41-E2CF-4FBE-AE2E-DF99F26B06F0}"/>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6" name="Footer Placeholder 5">
            <a:extLst>
              <a:ext uri="{FF2B5EF4-FFF2-40B4-BE49-F238E27FC236}">
                <a16:creationId xmlns:a16="http://schemas.microsoft.com/office/drawing/2014/main" id="{1DA6F4F5-4AAD-48DF-9FDF-084B1F257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0D069B-BC61-4A9C-AB34-3F8DD04E71CE}"/>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141698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ACDD-796A-4611-92D6-FA236F55C2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47DAAD-1412-4D83-98A4-F32D573BC5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A13F4B-B696-432C-8A25-59E61EA28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875BA18-EC5D-44DD-8DAA-E2755782DFE9}"/>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6" name="Footer Placeholder 5">
            <a:extLst>
              <a:ext uri="{FF2B5EF4-FFF2-40B4-BE49-F238E27FC236}">
                <a16:creationId xmlns:a16="http://schemas.microsoft.com/office/drawing/2014/main" id="{D290256F-DC86-4C60-88B7-7036B792D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8EAD91-15B7-4C60-BA38-2E1C279C1112}"/>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2114130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90847-030D-4407-9072-8493FB63A0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0E0B2B-E35C-47FD-A8A1-30CD339FC28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1CE00-964B-49CA-8A24-E104331109D6}"/>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5" name="Footer Placeholder 4">
            <a:extLst>
              <a:ext uri="{FF2B5EF4-FFF2-40B4-BE49-F238E27FC236}">
                <a16:creationId xmlns:a16="http://schemas.microsoft.com/office/drawing/2014/main" id="{98637EA4-B296-4A19-AFA5-3629CC08C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A0943-5B2F-4FBB-8802-6F2EE326C8A8}"/>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3393628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81F5EC-5FF4-4EDF-98A9-3A9B7DCAA1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B22501-CF7A-46A0-8466-29E14E1866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59D6B3-F730-46C4-84E3-919974A2509B}"/>
              </a:ext>
            </a:extLst>
          </p:cNvPr>
          <p:cNvSpPr>
            <a:spLocks noGrp="1"/>
          </p:cNvSpPr>
          <p:nvPr>
            <p:ph type="dt" sz="half" idx="10"/>
          </p:nvPr>
        </p:nvSpPr>
        <p:spPr/>
        <p:txBody>
          <a:bodyPr/>
          <a:lstStyle/>
          <a:p>
            <a:fld id="{E5242383-71D0-4199-8FB4-5A6810B0C040}" type="datetimeFigureOut">
              <a:rPr lang="en-US" smtClean="0"/>
              <a:t>11/26/2018</a:t>
            </a:fld>
            <a:endParaRPr lang="en-US"/>
          </a:p>
        </p:txBody>
      </p:sp>
      <p:sp>
        <p:nvSpPr>
          <p:cNvPr id="5" name="Footer Placeholder 4">
            <a:extLst>
              <a:ext uri="{FF2B5EF4-FFF2-40B4-BE49-F238E27FC236}">
                <a16:creationId xmlns:a16="http://schemas.microsoft.com/office/drawing/2014/main" id="{9ACE693F-5580-4EAE-B2F7-F04F5081E1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A6ECDA-E4E2-4984-9DA1-718AD61BFF2D}"/>
              </a:ext>
            </a:extLst>
          </p:cNvPr>
          <p:cNvSpPr>
            <a:spLocks noGrp="1"/>
          </p:cNvSpPr>
          <p:nvPr>
            <p:ph type="sldNum" sz="quarter" idx="12"/>
          </p:nvPr>
        </p:nvSpPr>
        <p:spPr/>
        <p:txBody>
          <a:bodyPr/>
          <a:lstStyle/>
          <a:p>
            <a:fld id="{7314865D-7DC4-449D-A8B8-8F781C87DB1D}" type="slidenum">
              <a:rPr lang="en-US" smtClean="0"/>
              <a:t>‹#›</a:t>
            </a:fld>
            <a:endParaRPr lang="en-US"/>
          </a:p>
        </p:txBody>
      </p:sp>
    </p:spTree>
    <p:extLst>
      <p:ext uri="{BB962C8B-B14F-4D97-AF65-F5344CB8AC3E}">
        <p14:creationId xmlns:p14="http://schemas.microsoft.com/office/powerpoint/2010/main" val="1234454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EC8994-BD92-43E6-A20C-5FC673272B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2A3F3A-3211-4181-8D9C-333C9676EA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5B3897-92F4-4975-9FF1-178CEDDBED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242383-71D0-4199-8FB4-5A6810B0C040}" type="datetimeFigureOut">
              <a:rPr lang="en-US" smtClean="0"/>
              <a:t>11/26/2018</a:t>
            </a:fld>
            <a:endParaRPr lang="en-US"/>
          </a:p>
        </p:txBody>
      </p:sp>
      <p:sp>
        <p:nvSpPr>
          <p:cNvPr id="5" name="Footer Placeholder 4">
            <a:extLst>
              <a:ext uri="{FF2B5EF4-FFF2-40B4-BE49-F238E27FC236}">
                <a16:creationId xmlns:a16="http://schemas.microsoft.com/office/drawing/2014/main" id="{20044E02-02E7-4442-9BB9-FAB6D70B15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584725-04F6-4F29-8290-0D83D169DB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14865D-7DC4-449D-A8B8-8F781C87DB1D}" type="slidenum">
              <a:rPr lang="en-US" smtClean="0"/>
              <a:t>‹#›</a:t>
            </a:fld>
            <a:endParaRPr lang="en-US"/>
          </a:p>
        </p:txBody>
      </p:sp>
    </p:spTree>
    <p:extLst>
      <p:ext uri="{BB962C8B-B14F-4D97-AF65-F5344CB8AC3E}">
        <p14:creationId xmlns:p14="http://schemas.microsoft.com/office/powerpoint/2010/main" val="1469673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cid:image002.png@01D4833E.89B4B740"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cid:image003.png@01D4833F.895EB290"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cid:image003.png@01D4833C.CD826BE0"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cid:image003.png@01D4833C.CD826BE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cid:image003.png@01D4833A.697D53F0"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E6D4EF-31FB-401A-BD61-56A27B650038}"/>
              </a:ext>
            </a:extLst>
          </p:cNvPr>
          <p:cNvSpPr>
            <a:spLocks noGrp="1"/>
          </p:cNvSpPr>
          <p:nvPr>
            <p:ph type="ctrTitle"/>
          </p:nvPr>
        </p:nvSpPr>
        <p:spPr>
          <a:xfrm>
            <a:off x="0" y="5604229"/>
            <a:ext cx="7264893" cy="1193800"/>
          </a:xfrm>
        </p:spPr>
        <p:txBody>
          <a:bodyPr anchor="ctr">
            <a:noAutofit/>
          </a:bodyPr>
          <a:lstStyle/>
          <a:p>
            <a:pPr algn="l"/>
            <a:r>
              <a:rPr lang="en-US" sz="2400" dirty="0">
                <a:latin typeface="+mn-lt"/>
                <a:cs typeface="Times New Roman" panose="02020603050405020304" pitchFamily="18" charset="0"/>
              </a:rPr>
              <a:t>Presented  by – Parag </a:t>
            </a:r>
            <a:r>
              <a:rPr lang="en-US" sz="2400" dirty="0" err="1">
                <a:latin typeface="+mn-lt"/>
                <a:cs typeface="Times New Roman" panose="02020603050405020304" pitchFamily="18" charset="0"/>
              </a:rPr>
              <a:t>Paliwal</a:t>
            </a:r>
            <a:r>
              <a:rPr lang="en-US" sz="2400" dirty="0">
                <a:latin typeface="+mn-lt"/>
                <a:cs typeface="Times New Roman" panose="02020603050405020304" pitchFamily="18" charset="0"/>
              </a:rPr>
              <a:t>, </a:t>
            </a:r>
            <a:r>
              <a:rPr lang="en-US" sz="2400" dirty="0" err="1">
                <a:latin typeface="+mn-lt"/>
                <a:cs typeface="Times New Roman" panose="02020603050405020304" pitchFamily="18" charset="0"/>
              </a:rPr>
              <a:t>Yushan</a:t>
            </a:r>
            <a:r>
              <a:rPr lang="en-US" sz="2400" dirty="0">
                <a:latin typeface="+mn-lt"/>
                <a:cs typeface="Times New Roman" panose="02020603050405020304" pitchFamily="18" charset="0"/>
              </a:rPr>
              <a:t> Cai, Vinay Gandhi, Mayuresh Wani, Madhura </a:t>
            </a:r>
            <a:r>
              <a:rPr lang="en-US" sz="2400" dirty="0" err="1">
                <a:latin typeface="+mn-lt"/>
                <a:cs typeface="Times New Roman" panose="02020603050405020304" pitchFamily="18" charset="0"/>
              </a:rPr>
              <a:t>Pande</a:t>
            </a:r>
            <a:r>
              <a:rPr lang="en-US" sz="2400" dirty="0">
                <a:latin typeface="+mn-lt"/>
                <a:cs typeface="Times New Roman" panose="02020603050405020304" pitchFamily="18" charset="0"/>
              </a:rPr>
              <a:t>, </a:t>
            </a:r>
            <a:r>
              <a:rPr lang="en-US" sz="2400" dirty="0" err="1">
                <a:latin typeface="+mn-lt"/>
                <a:cs typeface="Times New Roman" panose="02020603050405020304" pitchFamily="18" charset="0"/>
              </a:rPr>
              <a:t>Drashti</a:t>
            </a:r>
            <a:r>
              <a:rPr lang="en-US" sz="2400" dirty="0">
                <a:latin typeface="+mn-lt"/>
                <a:cs typeface="Times New Roman" panose="02020603050405020304" pitchFamily="18" charset="0"/>
              </a:rPr>
              <a:t> Shah</a:t>
            </a:r>
          </a:p>
        </p:txBody>
      </p:sp>
      <p:sp>
        <p:nvSpPr>
          <p:cNvPr id="5" name="Subtitle 4">
            <a:extLst>
              <a:ext uri="{FF2B5EF4-FFF2-40B4-BE49-F238E27FC236}">
                <a16:creationId xmlns:a16="http://schemas.microsoft.com/office/drawing/2014/main" id="{ACF131C2-D186-4213-A169-3F6DDAFDA13E}"/>
              </a:ext>
            </a:extLst>
          </p:cNvPr>
          <p:cNvSpPr>
            <a:spLocks noGrp="1"/>
          </p:cNvSpPr>
          <p:nvPr>
            <p:ph type="subTitle" idx="1"/>
          </p:nvPr>
        </p:nvSpPr>
        <p:spPr>
          <a:xfrm>
            <a:off x="10636098" y="5914671"/>
            <a:ext cx="1535837" cy="943329"/>
          </a:xfrm>
        </p:spPr>
        <p:txBody>
          <a:bodyPr anchor="ctr">
            <a:normAutofit/>
          </a:bodyPr>
          <a:lstStyle/>
          <a:p>
            <a:pPr algn="l"/>
            <a:r>
              <a:rPr lang="en-US" dirty="0">
                <a:ea typeface="+mj-ea"/>
                <a:cs typeface="Times New Roman" panose="02020603050405020304" pitchFamily="18" charset="0"/>
              </a:rPr>
              <a:t>Group 2</a:t>
            </a:r>
          </a:p>
        </p:txBody>
      </p:sp>
      <p:sp>
        <p:nvSpPr>
          <p:cNvPr id="19" name="Title 3">
            <a:extLst>
              <a:ext uri="{FF2B5EF4-FFF2-40B4-BE49-F238E27FC236}">
                <a16:creationId xmlns:a16="http://schemas.microsoft.com/office/drawing/2014/main" id="{384044F8-D0D6-455C-8237-A2BDE302BCE7}"/>
              </a:ext>
            </a:extLst>
          </p:cNvPr>
          <p:cNvSpPr txBox="1">
            <a:spLocks/>
          </p:cNvSpPr>
          <p:nvPr/>
        </p:nvSpPr>
        <p:spPr>
          <a:xfrm>
            <a:off x="3059042" y="2560320"/>
            <a:ext cx="6073917" cy="173736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latin typeface="+mn-lt"/>
              </a:rPr>
              <a:t>Sentiment Analysis</a:t>
            </a:r>
          </a:p>
          <a:p>
            <a:r>
              <a:rPr lang="en-US" sz="4800" dirty="0">
                <a:latin typeface="+mn-lt"/>
              </a:rPr>
              <a:t>on Music App Reviews</a:t>
            </a:r>
          </a:p>
        </p:txBody>
      </p:sp>
      <p:pic>
        <p:nvPicPr>
          <p:cNvPr id="3" name="Picture 2" descr="A sunset in the background&#10;&#10;Description automatically generated">
            <a:extLst>
              <a:ext uri="{FF2B5EF4-FFF2-40B4-BE49-F238E27FC236}">
                <a16:creationId xmlns:a16="http://schemas.microsoft.com/office/drawing/2014/main" id="{81C78345-3C37-42B7-9EA1-BF557261DB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3539" y="97840"/>
            <a:ext cx="4286250" cy="1104900"/>
          </a:xfrm>
          <a:prstGeom prst="rect">
            <a:avLst/>
          </a:prstGeom>
        </p:spPr>
      </p:pic>
    </p:spTree>
    <p:extLst>
      <p:ext uri="{BB962C8B-B14F-4D97-AF65-F5344CB8AC3E}">
        <p14:creationId xmlns:p14="http://schemas.microsoft.com/office/powerpoint/2010/main" val="3874508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Agenda</a:t>
            </a:r>
          </a:p>
        </p:txBody>
      </p:sp>
      <p:graphicFrame>
        <p:nvGraphicFramePr>
          <p:cNvPr id="6" name="Content Placeholder 5">
            <a:extLst>
              <a:ext uri="{FF2B5EF4-FFF2-40B4-BE49-F238E27FC236}">
                <a16:creationId xmlns:a16="http://schemas.microsoft.com/office/drawing/2014/main" id="{670F6614-93C7-4616-A10E-837B8C1CFB1B}"/>
              </a:ext>
            </a:extLst>
          </p:cNvPr>
          <p:cNvGraphicFramePr>
            <a:graphicFrameLocks noGrp="1"/>
          </p:cNvGraphicFramePr>
          <p:nvPr>
            <p:ph idx="1"/>
            <p:extLst>
              <p:ext uri="{D42A27DB-BD31-4B8C-83A1-F6EECF244321}">
                <p14:modId xmlns:p14="http://schemas.microsoft.com/office/powerpoint/2010/main" val="1499949415"/>
              </p:ext>
            </p:extLst>
          </p:nvPr>
        </p:nvGraphicFramePr>
        <p:xfrm>
          <a:off x="3341333" y="2299835"/>
          <a:ext cx="5509334" cy="2258331"/>
        </p:xfrm>
        <a:graphic>
          <a:graphicData uri="http://schemas.openxmlformats.org/drawingml/2006/table">
            <a:tbl>
              <a:tblPr firstRow="1" bandRow="1">
                <a:tableStyleId>{5C22544A-7EE6-4342-B048-85BDC9FD1C3A}</a:tableStyleId>
              </a:tblPr>
              <a:tblGrid>
                <a:gridCol w="5509334">
                  <a:extLst>
                    <a:ext uri="{9D8B030D-6E8A-4147-A177-3AD203B41FA5}">
                      <a16:colId xmlns:a16="http://schemas.microsoft.com/office/drawing/2014/main" val="1248665054"/>
                    </a:ext>
                  </a:extLst>
                </a:gridCol>
              </a:tblGrid>
              <a:tr h="370840">
                <a:tc>
                  <a:txBody>
                    <a:bodyPr/>
                    <a:lstStyle/>
                    <a:p>
                      <a:pPr algn="ctr"/>
                      <a:r>
                        <a:rPr lang="en-US" dirty="0"/>
                        <a:t>Motivation</a:t>
                      </a:r>
                    </a:p>
                  </a:txBody>
                  <a:tcPr anchor="b"/>
                </a:tc>
                <a:extLst>
                  <a:ext uri="{0D108BD9-81ED-4DB2-BD59-A6C34878D82A}">
                    <a16:rowId xmlns:a16="http://schemas.microsoft.com/office/drawing/2014/main" val="404223706"/>
                  </a:ext>
                </a:extLst>
              </a:tr>
              <a:tr h="370840">
                <a:tc>
                  <a:txBody>
                    <a:bodyPr/>
                    <a:lstStyle/>
                    <a:p>
                      <a:pPr algn="ctr"/>
                      <a:r>
                        <a:rPr lang="en-US" dirty="0"/>
                        <a:t>Business Question</a:t>
                      </a:r>
                    </a:p>
                  </a:txBody>
                  <a:tcPr anchor="b">
                    <a:solidFill>
                      <a:schemeClr val="accent1">
                        <a:lumMod val="40000"/>
                        <a:lumOff val="60000"/>
                      </a:schemeClr>
                    </a:solidFill>
                  </a:tcPr>
                </a:tc>
                <a:extLst>
                  <a:ext uri="{0D108BD9-81ED-4DB2-BD59-A6C34878D82A}">
                    <a16:rowId xmlns:a16="http://schemas.microsoft.com/office/drawing/2014/main" val="355538206"/>
                  </a:ext>
                </a:extLst>
              </a:tr>
              <a:tr h="404131">
                <a:tc>
                  <a:txBody>
                    <a:bodyPr/>
                    <a:lstStyle/>
                    <a:p>
                      <a:pPr algn="ctr"/>
                      <a:r>
                        <a:rPr lang="en-US" dirty="0"/>
                        <a:t>Methodology</a:t>
                      </a:r>
                    </a:p>
                  </a:txBody>
                  <a:tcPr anchor="b">
                    <a:solidFill>
                      <a:schemeClr val="accent1">
                        <a:lumMod val="40000"/>
                        <a:lumOff val="60000"/>
                      </a:schemeClr>
                    </a:solidFill>
                  </a:tcPr>
                </a:tc>
                <a:extLst>
                  <a:ext uri="{0D108BD9-81ED-4DB2-BD59-A6C34878D82A}">
                    <a16:rowId xmlns:a16="http://schemas.microsoft.com/office/drawing/2014/main" val="1448365020"/>
                  </a:ext>
                </a:extLst>
              </a:tr>
              <a:tr h="370840">
                <a:tc>
                  <a:txBody>
                    <a:bodyPr/>
                    <a:lstStyle/>
                    <a:p>
                      <a:pPr algn="ctr"/>
                      <a:r>
                        <a:rPr lang="en-US" dirty="0"/>
                        <a:t>Analysis</a:t>
                      </a:r>
                    </a:p>
                  </a:txBody>
                  <a:tcPr anchor="b">
                    <a:solidFill>
                      <a:schemeClr val="accent1">
                        <a:lumMod val="40000"/>
                        <a:lumOff val="60000"/>
                      </a:schemeClr>
                    </a:solidFill>
                  </a:tcPr>
                </a:tc>
                <a:extLst>
                  <a:ext uri="{0D108BD9-81ED-4DB2-BD59-A6C34878D82A}">
                    <a16:rowId xmlns:a16="http://schemas.microsoft.com/office/drawing/2014/main" val="2826135216"/>
                  </a:ext>
                </a:extLst>
              </a:tr>
              <a:tr h="370840">
                <a:tc>
                  <a:txBody>
                    <a:bodyPr/>
                    <a:lstStyle/>
                    <a:p>
                      <a:pPr algn="ctr"/>
                      <a:r>
                        <a:rPr lang="en-US" dirty="0"/>
                        <a:t>Key Takeaways</a:t>
                      </a:r>
                    </a:p>
                  </a:txBody>
                  <a:tcPr anchor="b">
                    <a:solidFill>
                      <a:schemeClr val="accent1">
                        <a:lumMod val="40000"/>
                        <a:lumOff val="60000"/>
                      </a:schemeClr>
                    </a:solidFill>
                  </a:tcPr>
                </a:tc>
                <a:extLst>
                  <a:ext uri="{0D108BD9-81ED-4DB2-BD59-A6C34878D82A}">
                    <a16:rowId xmlns:a16="http://schemas.microsoft.com/office/drawing/2014/main" val="4097894595"/>
                  </a:ext>
                </a:extLst>
              </a:tr>
              <a:tr h="370840">
                <a:tc>
                  <a:txBody>
                    <a:bodyPr/>
                    <a:lstStyle/>
                    <a:p>
                      <a:pPr algn="ctr"/>
                      <a:r>
                        <a:rPr lang="en-US" dirty="0"/>
                        <a:t>Appendix</a:t>
                      </a:r>
                    </a:p>
                  </a:txBody>
                  <a:tcPr anchor="b">
                    <a:solidFill>
                      <a:schemeClr val="accent1">
                        <a:lumMod val="40000"/>
                        <a:lumOff val="60000"/>
                      </a:schemeClr>
                    </a:solidFill>
                  </a:tcPr>
                </a:tc>
                <a:extLst>
                  <a:ext uri="{0D108BD9-81ED-4DB2-BD59-A6C34878D82A}">
                    <a16:rowId xmlns:a16="http://schemas.microsoft.com/office/drawing/2014/main" val="3631025880"/>
                  </a:ext>
                </a:extLst>
              </a:tr>
            </a:tbl>
          </a:graphicData>
        </a:graphic>
      </p:graphicFrame>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2082308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57F032-119C-4449-B536-7275C4063582}"/>
              </a:ext>
            </a:extLst>
          </p:cNvPr>
          <p:cNvSpPr>
            <a:spLocks noGrp="1"/>
          </p:cNvSpPr>
          <p:nvPr>
            <p:ph type="title"/>
          </p:nvPr>
        </p:nvSpPr>
        <p:spPr>
          <a:xfrm>
            <a:off x="0" y="0"/>
            <a:ext cx="10515600" cy="737419"/>
          </a:xfrm>
        </p:spPr>
        <p:txBody>
          <a:bodyPr>
            <a:normAutofit/>
          </a:bodyPr>
          <a:lstStyle/>
          <a:p>
            <a:r>
              <a:rPr lang="en-US" sz="3600" dirty="0">
                <a:solidFill>
                  <a:srgbClr val="4472C4"/>
                </a:solidFill>
              </a:rPr>
              <a:t>Follow the future…</a:t>
            </a:r>
          </a:p>
        </p:txBody>
      </p:sp>
      <p:pic>
        <p:nvPicPr>
          <p:cNvPr id="5" name="videoplayback">
            <a:hlinkClick r:id="" action="ppaction://media"/>
            <a:extLst>
              <a:ext uri="{FF2B5EF4-FFF2-40B4-BE49-F238E27FC236}">
                <a16:creationId xmlns:a16="http://schemas.microsoft.com/office/drawing/2014/main" id="{E81ABD72-5A8F-48E6-BC43-519FFA27FFD4}"/>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658761" y="737420"/>
            <a:ext cx="10913807" cy="6120580"/>
          </a:xfrm>
        </p:spPr>
      </p:pic>
    </p:spTree>
    <p:extLst>
      <p:ext uri="{BB962C8B-B14F-4D97-AF65-F5344CB8AC3E}">
        <p14:creationId xmlns:p14="http://schemas.microsoft.com/office/powerpoint/2010/main" val="6547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32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Agenda</a:t>
            </a:r>
          </a:p>
        </p:txBody>
      </p:sp>
      <p:graphicFrame>
        <p:nvGraphicFramePr>
          <p:cNvPr id="6" name="Content Placeholder 5">
            <a:extLst>
              <a:ext uri="{FF2B5EF4-FFF2-40B4-BE49-F238E27FC236}">
                <a16:creationId xmlns:a16="http://schemas.microsoft.com/office/drawing/2014/main" id="{670F6614-93C7-4616-A10E-837B8C1CFB1B}"/>
              </a:ext>
            </a:extLst>
          </p:cNvPr>
          <p:cNvGraphicFramePr>
            <a:graphicFrameLocks noGrp="1"/>
          </p:cNvGraphicFramePr>
          <p:nvPr>
            <p:ph idx="1"/>
            <p:extLst>
              <p:ext uri="{D42A27DB-BD31-4B8C-83A1-F6EECF244321}">
                <p14:modId xmlns:p14="http://schemas.microsoft.com/office/powerpoint/2010/main" val="549755875"/>
              </p:ext>
            </p:extLst>
          </p:nvPr>
        </p:nvGraphicFramePr>
        <p:xfrm>
          <a:off x="3341333" y="2316480"/>
          <a:ext cx="5509334" cy="2225040"/>
        </p:xfrm>
        <a:graphic>
          <a:graphicData uri="http://schemas.openxmlformats.org/drawingml/2006/table">
            <a:tbl>
              <a:tblPr firstRow="1" bandRow="1">
                <a:tableStyleId>{5C22544A-7EE6-4342-B048-85BDC9FD1C3A}</a:tableStyleId>
              </a:tblPr>
              <a:tblGrid>
                <a:gridCol w="5509334">
                  <a:extLst>
                    <a:ext uri="{9D8B030D-6E8A-4147-A177-3AD203B41FA5}">
                      <a16:colId xmlns:a16="http://schemas.microsoft.com/office/drawing/2014/main" val="1248665054"/>
                    </a:ext>
                  </a:extLst>
                </a:gridCol>
              </a:tblGrid>
              <a:tr h="370840">
                <a:tc>
                  <a:txBody>
                    <a:bodyPr/>
                    <a:lstStyle/>
                    <a:p>
                      <a:pPr marL="0" algn="ctr" defTabSz="914400" rtl="0" eaLnBrk="1" latinLnBrk="0" hangingPunct="1"/>
                      <a:r>
                        <a:rPr lang="en-US" sz="1800" b="0" kern="1200" dirty="0">
                          <a:solidFill>
                            <a:schemeClr val="dk1"/>
                          </a:solidFill>
                          <a:latin typeface="+mn-lt"/>
                          <a:ea typeface="+mn-ea"/>
                          <a:cs typeface="+mn-cs"/>
                        </a:rPr>
                        <a:t>Motivation</a:t>
                      </a:r>
                    </a:p>
                  </a:txBody>
                  <a:tcPr anchor="b">
                    <a:solidFill>
                      <a:schemeClr val="accent1">
                        <a:lumMod val="40000"/>
                        <a:lumOff val="60000"/>
                      </a:schemeClr>
                    </a:solidFill>
                  </a:tcPr>
                </a:tc>
                <a:extLst>
                  <a:ext uri="{0D108BD9-81ED-4DB2-BD59-A6C34878D82A}">
                    <a16:rowId xmlns:a16="http://schemas.microsoft.com/office/drawing/2014/main" val="404223706"/>
                  </a:ext>
                </a:extLst>
              </a:tr>
              <a:tr h="370840">
                <a:tc>
                  <a:txBody>
                    <a:bodyPr/>
                    <a:lstStyle/>
                    <a:p>
                      <a:pPr algn="ctr"/>
                      <a:r>
                        <a:rPr lang="en-US" b="1" dirty="0">
                          <a:solidFill>
                            <a:schemeClr val="bg1"/>
                          </a:solidFill>
                        </a:rPr>
                        <a:t>Business Question</a:t>
                      </a:r>
                    </a:p>
                  </a:txBody>
                  <a:tcPr anchor="b">
                    <a:solidFill>
                      <a:srgbClr val="4472C4"/>
                    </a:solidFill>
                  </a:tcPr>
                </a:tc>
                <a:extLst>
                  <a:ext uri="{0D108BD9-81ED-4DB2-BD59-A6C34878D82A}">
                    <a16:rowId xmlns:a16="http://schemas.microsoft.com/office/drawing/2014/main" val="355538206"/>
                  </a:ext>
                </a:extLst>
              </a:tr>
              <a:tr h="370840">
                <a:tc>
                  <a:txBody>
                    <a:bodyPr/>
                    <a:lstStyle/>
                    <a:p>
                      <a:pPr algn="ctr"/>
                      <a:r>
                        <a:rPr lang="en-US" dirty="0"/>
                        <a:t>Methodology</a:t>
                      </a:r>
                    </a:p>
                  </a:txBody>
                  <a:tcPr anchor="b">
                    <a:solidFill>
                      <a:schemeClr val="accent1">
                        <a:lumMod val="40000"/>
                        <a:lumOff val="60000"/>
                      </a:schemeClr>
                    </a:solidFill>
                  </a:tcPr>
                </a:tc>
                <a:extLst>
                  <a:ext uri="{0D108BD9-81ED-4DB2-BD59-A6C34878D82A}">
                    <a16:rowId xmlns:a16="http://schemas.microsoft.com/office/drawing/2014/main" val="1448365020"/>
                  </a:ext>
                </a:extLst>
              </a:tr>
              <a:tr h="370840">
                <a:tc>
                  <a:txBody>
                    <a:bodyPr/>
                    <a:lstStyle/>
                    <a:p>
                      <a:pPr algn="ctr"/>
                      <a:r>
                        <a:rPr lang="en-US" dirty="0"/>
                        <a:t>Analysis</a:t>
                      </a:r>
                    </a:p>
                  </a:txBody>
                  <a:tcPr anchor="b">
                    <a:solidFill>
                      <a:schemeClr val="accent1">
                        <a:lumMod val="40000"/>
                        <a:lumOff val="60000"/>
                      </a:schemeClr>
                    </a:solidFill>
                  </a:tcPr>
                </a:tc>
                <a:extLst>
                  <a:ext uri="{0D108BD9-81ED-4DB2-BD59-A6C34878D82A}">
                    <a16:rowId xmlns:a16="http://schemas.microsoft.com/office/drawing/2014/main" val="2826135216"/>
                  </a:ext>
                </a:extLst>
              </a:tr>
              <a:tr h="370840">
                <a:tc>
                  <a:txBody>
                    <a:bodyPr/>
                    <a:lstStyle/>
                    <a:p>
                      <a:pPr algn="ctr"/>
                      <a:r>
                        <a:rPr lang="en-US" dirty="0"/>
                        <a:t>Key Takeaways</a:t>
                      </a:r>
                    </a:p>
                  </a:txBody>
                  <a:tcPr anchor="b">
                    <a:solidFill>
                      <a:schemeClr val="accent1">
                        <a:lumMod val="40000"/>
                        <a:lumOff val="60000"/>
                      </a:schemeClr>
                    </a:solidFill>
                  </a:tcPr>
                </a:tc>
                <a:extLst>
                  <a:ext uri="{0D108BD9-81ED-4DB2-BD59-A6C34878D82A}">
                    <a16:rowId xmlns:a16="http://schemas.microsoft.com/office/drawing/2014/main" val="2758579792"/>
                  </a:ext>
                </a:extLst>
              </a:tr>
              <a:tr h="370840">
                <a:tc>
                  <a:txBody>
                    <a:bodyPr/>
                    <a:lstStyle/>
                    <a:p>
                      <a:pPr algn="ctr"/>
                      <a:r>
                        <a:rPr lang="en-US" dirty="0"/>
                        <a:t>Appendix</a:t>
                      </a:r>
                    </a:p>
                  </a:txBody>
                  <a:tcPr anchor="b">
                    <a:solidFill>
                      <a:schemeClr val="accent1">
                        <a:lumMod val="40000"/>
                        <a:lumOff val="60000"/>
                      </a:schemeClr>
                    </a:solidFill>
                  </a:tcPr>
                </a:tc>
                <a:extLst>
                  <a:ext uri="{0D108BD9-81ED-4DB2-BD59-A6C34878D82A}">
                    <a16:rowId xmlns:a16="http://schemas.microsoft.com/office/drawing/2014/main" val="3631025880"/>
                  </a:ext>
                </a:extLst>
              </a:tr>
            </a:tbl>
          </a:graphicData>
        </a:graphic>
      </p:graphicFrame>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23810192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E6D4EF-31FB-401A-BD61-56A27B650038}"/>
              </a:ext>
            </a:extLst>
          </p:cNvPr>
          <p:cNvSpPr>
            <a:spLocks noGrp="1"/>
          </p:cNvSpPr>
          <p:nvPr>
            <p:ph type="ctrTitle"/>
          </p:nvPr>
        </p:nvSpPr>
        <p:spPr>
          <a:xfrm>
            <a:off x="2502486" y="2560320"/>
            <a:ext cx="7187028" cy="1737360"/>
          </a:xfrm>
        </p:spPr>
        <p:txBody>
          <a:bodyPr anchor="ctr">
            <a:noAutofit/>
          </a:bodyPr>
          <a:lstStyle/>
          <a:p>
            <a:r>
              <a:rPr lang="en-US" sz="3600" dirty="0">
                <a:latin typeface="+mn-lt"/>
                <a:cs typeface="Times New Roman" panose="02020603050405020304" pitchFamily="18" charset="0"/>
              </a:rPr>
              <a:t>What is the impact of artificial intelligence on the music industry?</a:t>
            </a:r>
          </a:p>
        </p:txBody>
      </p:sp>
      <p:sp>
        <p:nvSpPr>
          <p:cNvPr id="3" name="Rectangle 2">
            <a:extLst>
              <a:ext uri="{FF2B5EF4-FFF2-40B4-BE49-F238E27FC236}">
                <a16:creationId xmlns:a16="http://schemas.microsoft.com/office/drawing/2014/main" id="{841936A8-147E-44DD-9871-0305C47BC978}"/>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3582879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Agenda</a:t>
            </a:r>
          </a:p>
        </p:txBody>
      </p:sp>
      <p:graphicFrame>
        <p:nvGraphicFramePr>
          <p:cNvPr id="6" name="Content Placeholder 5">
            <a:extLst>
              <a:ext uri="{FF2B5EF4-FFF2-40B4-BE49-F238E27FC236}">
                <a16:creationId xmlns:a16="http://schemas.microsoft.com/office/drawing/2014/main" id="{670F6614-93C7-4616-A10E-837B8C1CFB1B}"/>
              </a:ext>
            </a:extLst>
          </p:cNvPr>
          <p:cNvGraphicFramePr>
            <a:graphicFrameLocks noGrp="1"/>
          </p:cNvGraphicFramePr>
          <p:nvPr>
            <p:ph idx="1"/>
            <p:extLst>
              <p:ext uri="{D42A27DB-BD31-4B8C-83A1-F6EECF244321}">
                <p14:modId xmlns:p14="http://schemas.microsoft.com/office/powerpoint/2010/main" val="2316556097"/>
              </p:ext>
            </p:extLst>
          </p:nvPr>
        </p:nvGraphicFramePr>
        <p:xfrm>
          <a:off x="3341333" y="2316480"/>
          <a:ext cx="5509334" cy="2225040"/>
        </p:xfrm>
        <a:graphic>
          <a:graphicData uri="http://schemas.openxmlformats.org/drawingml/2006/table">
            <a:tbl>
              <a:tblPr firstRow="1" bandRow="1">
                <a:tableStyleId>{5C22544A-7EE6-4342-B048-85BDC9FD1C3A}</a:tableStyleId>
              </a:tblPr>
              <a:tblGrid>
                <a:gridCol w="5509334">
                  <a:extLst>
                    <a:ext uri="{9D8B030D-6E8A-4147-A177-3AD203B41FA5}">
                      <a16:colId xmlns:a16="http://schemas.microsoft.com/office/drawing/2014/main" val="1248665054"/>
                    </a:ext>
                  </a:extLst>
                </a:gridCol>
              </a:tblGrid>
              <a:tr h="370840">
                <a:tc>
                  <a:txBody>
                    <a:bodyPr/>
                    <a:lstStyle/>
                    <a:p>
                      <a:pPr marL="0" algn="ctr" defTabSz="914400" rtl="0" eaLnBrk="1" latinLnBrk="0" hangingPunct="1"/>
                      <a:r>
                        <a:rPr lang="en-US" sz="1800" b="0" kern="1200" dirty="0">
                          <a:solidFill>
                            <a:schemeClr val="dk1"/>
                          </a:solidFill>
                          <a:latin typeface="+mn-lt"/>
                          <a:ea typeface="+mn-ea"/>
                          <a:cs typeface="+mn-cs"/>
                        </a:rPr>
                        <a:t>Motivation</a:t>
                      </a:r>
                    </a:p>
                  </a:txBody>
                  <a:tcPr anchor="b">
                    <a:solidFill>
                      <a:schemeClr val="accent1">
                        <a:lumMod val="40000"/>
                        <a:lumOff val="60000"/>
                      </a:schemeClr>
                    </a:solidFill>
                  </a:tcPr>
                </a:tc>
                <a:extLst>
                  <a:ext uri="{0D108BD9-81ED-4DB2-BD59-A6C34878D82A}">
                    <a16:rowId xmlns:a16="http://schemas.microsoft.com/office/drawing/2014/main" val="404223706"/>
                  </a:ext>
                </a:extLst>
              </a:tr>
              <a:tr h="370840">
                <a:tc>
                  <a:txBody>
                    <a:bodyPr/>
                    <a:lstStyle/>
                    <a:p>
                      <a:pPr algn="ctr"/>
                      <a:r>
                        <a:rPr lang="en-US" dirty="0"/>
                        <a:t>Business Question</a:t>
                      </a:r>
                    </a:p>
                  </a:txBody>
                  <a:tcPr anchor="b">
                    <a:solidFill>
                      <a:schemeClr val="accent1">
                        <a:lumMod val="40000"/>
                        <a:lumOff val="60000"/>
                      </a:schemeClr>
                    </a:solidFill>
                  </a:tcPr>
                </a:tc>
                <a:extLst>
                  <a:ext uri="{0D108BD9-81ED-4DB2-BD59-A6C34878D82A}">
                    <a16:rowId xmlns:a16="http://schemas.microsoft.com/office/drawing/2014/main" val="355538206"/>
                  </a:ext>
                </a:extLst>
              </a:tr>
              <a:tr h="370840">
                <a:tc>
                  <a:txBody>
                    <a:bodyPr/>
                    <a:lstStyle/>
                    <a:p>
                      <a:pPr algn="ctr"/>
                      <a:r>
                        <a:rPr lang="en-US" b="1" dirty="0">
                          <a:solidFill>
                            <a:schemeClr val="bg1"/>
                          </a:solidFill>
                        </a:rPr>
                        <a:t>Methodology</a:t>
                      </a:r>
                    </a:p>
                  </a:txBody>
                  <a:tcPr anchor="b">
                    <a:solidFill>
                      <a:srgbClr val="4472C4"/>
                    </a:solidFill>
                  </a:tcPr>
                </a:tc>
                <a:extLst>
                  <a:ext uri="{0D108BD9-81ED-4DB2-BD59-A6C34878D82A}">
                    <a16:rowId xmlns:a16="http://schemas.microsoft.com/office/drawing/2014/main" val="1448365020"/>
                  </a:ext>
                </a:extLst>
              </a:tr>
              <a:tr h="370840">
                <a:tc>
                  <a:txBody>
                    <a:bodyPr/>
                    <a:lstStyle/>
                    <a:p>
                      <a:pPr algn="ctr"/>
                      <a:r>
                        <a:rPr lang="en-US" dirty="0"/>
                        <a:t>Analysis</a:t>
                      </a:r>
                    </a:p>
                  </a:txBody>
                  <a:tcPr anchor="b">
                    <a:solidFill>
                      <a:schemeClr val="accent1">
                        <a:lumMod val="40000"/>
                        <a:lumOff val="60000"/>
                      </a:schemeClr>
                    </a:solidFill>
                  </a:tcPr>
                </a:tc>
                <a:extLst>
                  <a:ext uri="{0D108BD9-81ED-4DB2-BD59-A6C34878D82A}">
                    <a16:rowId xmlns:a16="http://schemas.microsoft.com/office/drawing/2014/main" val="2826135216"/>
                  </a:ext>
                </a:extLst>
              </a:tr>
              <a:tr h="370840">
                <a:tc>
                  <a:txBody>
                    <a:bodyPr/>
                    <a:lstStyle/>
                    <a:p>
                      <a:pPr algn="ctr"/>
                      <a:r>
                        <a:rPr lang="en-US" dirty="0"/>
                        <a:t>Key Takeaways</a:t>
                      </a:r>
                    </a:p>
                  </a:txBody>
                  <a:tcPr anchor="b">
                    <a:solidFill>
                      <a:schemeClr val="accent1">
                        <a:lumMod val="40000"/>
                        <a:lumOff val="60000"/>
                      </a:schemeClr>
                    </a:solidFill>
                  </a:tcPr>
                </a:tc>
                <a:extLst>
                  <a:ext uri="{0D108BD9-81ED-4DB2-BD59-A6C34878D82A}">
                    <a16:rowId xmlns:a16="http://schemas.microsoft.com/office/drawing/2014/main" val="3343863615"/>
                  </a:ext>
                </a:extLst>
              </a:tr>
              <a:tr h="370840">
                <a:tc>
                  <a:txBody>
                    <a:bodyPr/>
                    <a:lstStyle/>
                    <a:p>
                      <a:pPr algn="ctr"/>
                      <a:r>
                        <a:rPr lang="en-US" dirty="0"/>
                        <a:t>Appendix</a:t>
                      </a:r>
                    </a:p>
                  </a:txBody>
                  <a:tcPr anchor="b">
                    <a:solidFill>
                      <a:schemeClr val="accent1">
                        <a:lumMod val="40000"/>
                        <a:lumOff val="60000"/>
                      </a:schemeClr>
                    </a:solidFill>
                  </a:tcPr>
                </a:tc>
                <a:extLst>
                  <a:ext uri="{0D108BD9-81ED-4DB2-BD59-A6C34878D82A}">
                    <a16:rowId xmlns:a16="http://schemas.microsoft.com/office/drawing/2014/main" val="3631025880"/>
                  </a:ext>
                </a:extLst>
              </a:tr>
            </a:tbl>
          </a:graphicData>
        </a:graphic>
      </p:graphicFrame>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3865836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B9FFC-4C96-4F07-A636-8685AB00563F}"/>
              </a:ext>
            </a:extLst>
          </p:cNvPr>
          <p:cNvSpPr>
            <a:spLocks noGrp="1"/>
          </p:cNvSpPr>
          <p:nvPr>
            <p:ph type="title"/>
          </p:nvPr>
        </p:nvSpPr>
        <p:spPr/>
        <p:txBody>
          <a:bodyPr/>
          <a:lstStyle/>
          <a:p>
            <a:r>
              <a:rPr lang="en-US" sz="3600" dirty="0">
                <a:solidFill>
                  <a:schemeClr val="accent1">
                    <a:lumMod val="75000"/>
                  </a:schemeClr>
                </a:solidFill>
              </a:rPr>
              <a:t>Methodology</a:t>
            </a:r>
            <a:r>
              <a:rPr lang="en-US" dirty="0"/>
              <a:t> </a:t>
            </a:r>
          </a:p>
        </p:txBody>
      </p:sp>
      <p:sp>
        <p:nvSpPr>
          <p:cNvPr id="3" name="Content Placeholder 2">
            <a:extLst>
              <a:ext uri="{FF2B5EF4-FFF2-40B4-BE49-F238E27FC236}">
                <a16:creationId xmlns:a16="http://schemas.microsoft.com/office/drawing/2014/main" id="{DDB970C1-03F9-4D44-86A8-005F2E150831}"/>
              </a:ext>
            </a:extLst>
          </p:cNvPr>
          <p:cNvSpPr>
            <a:spLocks noGrp="1"/>
          </p:cNvSpPr>
          <p:nvPr>
            <p:ph idx="1"/>
          </p:nvPr>
        </p:nvSpPr>
        <p:spPr>
          <a:xfrm>
            <a:off x="838200" y="1585926"/>
            <a:ext cx="10515600" cy="3604214"/>
          </a:xfrm>
        </p:spPr>
        <p:txBody>
          <a:bodyPr>
            <a:normAutofit fontScale="62500" lnSpcReduction="20000"/>
          </a:bodyPr>
          <a:lstStyle/>
          <a:p>
            <a:pPr>
              <a:lnSpc>
                <a:spcPct val="150000"/>
              </a:lnSpc>
            </a:pPr>
            <a:r>
              <a:rPr lang="en-US" dirty="0"/>
              <a:t>~39000 consumer reviews analyzed</a:t>
            </a:r>
            <a:br>
              <a:rPr lang="en-US" dirty="0"/>
            </a:br>
            <a:r>
              <a:rPr lang="en-US" dirty="0"/>
              <a:t>Platforms – Amazon Music, Pandora and Spotify</a:t>
            </a:r>
          </a:p>
          <a:p>
            <a:pPr>
              <a:lnSpc>
                <a:spcPct val="220000"/>
              </a:lnSpc>
            </a:pPr>
            <a:r>
              <a:rPr lang="en-US" dirty="0"/>
              <a:t>Cleaned the reviews</a:t>
            </a:r>
          </a:p>
          <a:p>
            <a:pPr>
              <a:lnSpc>
                <a:spcPct val="220000"/>
              </a:lnSpc>
            </a:pPr>
            <a:r>
              <a:rPr lang="en-US" dirty="0"/>
              <a:t>Comment scoring </a:t>
            </a:r>
          </a:p>
          <a:p>
            <a:pPr>
              <a:lnSpc>
                <a:spcPct val="220000"/>
              </a:lnSpc>
            </a:pPr>
            <a:r>
              <a:rPr lang="en-US" dirty="0"/>
              <a:t>Word cloud analysis of common terms</a:t>
            </a:r>
          </a:p>
          <a:p>
            <a:pPr>
              <a:lnSpc>
                <a:spcPct val="220000"/>
              </a:lnSpc>
            </a:pPr>
            <a:r>
              <a:rPr lang="en-US" dirty="0"/>
              <a:t>Frequency based analysis</a:t>
            </a:r>
          </a:p>
          <a:p>
            <a:pPr>
              <a:lnSpc>
                <a:spcPct val="220000"/>
              </a:lnSpc>
            </a:pPr>
            <a:endParaRPr lang="en-US" dirty="0"/>
          </a:p>
          <a:p>
            <a:pPr>
              <a:lnSpc>
                <a:spcPct val="220000"/>
              </a:lnSpc>
            </a:pPr>
            <a:endParaRPr lang="en-US" dirty="0"/>
          </a:p>
        </p:txBody>
      </p:sp>
      <p:sp>
        <p:nvSpPr>
          <p:cNvPr id="4" name="Rectangle 3">
            <a:extLst>
              <a:ext uri="{FF2B5EF4-FFF2-40B4-BE49-F238E27FC236}">
                <a16:creationId xmlns:a16="http://schemas.microsoft.com/office/drawing/2014/main" id="{923ACA6B-E7B7-4F17-BCC8-B3F7B0A80344}"/>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900034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Agenda</a:t>
            </a:r>
          </a:p>
        </p:txBody>
      </p:sp>
      <p:graphicFrame>
        <p:nvGraphicFramePr>
          <p:cNvPr id="6" name="Content Placeholder 5">
            <a:extLst>
              <a:ext uri="{FF2B5EF4-FFF2-40B4-BE49-F238E27FC236}">
                <a16:creationId xmlns:a16="http://schemas.microsoft.com/office/drawing/2014/main" id="{670F6614-93C7-4616-A10E-837B8C1CFB1B}"/>
              </a:ext>
            </a:extLst>
          </p:cNvPr>
          <p:cNvGraphicFramePr>
            <a:graphicFrameLocks noGrp="1"/>
          </p:cNvGraphicFramePr>
          <p:nvPr>
            <p:ph idx="1"/>
            <p:extLst>
              <p:ext uri="{D42A27DB-BD31-4B8C-83A1-F6EECF244321}">
                <p14:modId xmlns:p14="http://schemas.microsoft.com/office/powerpoint/2010/main" val="2439769819"/>
              </p:ext>
            </p:extLst>
          </p:nvPr>
        </p:nvGraphicFramePr>
        <p:xfrm>
          <a:off x="3341333" y="2316480"/>
          <a:ext cx="5509334" cy="2225040"/>
        </p:xfrm>
        <a:graphic>
          <a:graphicData uri="http://schemas.openxmlformats.org/drawingml/2006/table">
            <a:tbl>
              <a:tblPr firstRow="1" bandRow="1">
                <a:tableStyleId>{5C22544A-7EE6-4342-B048-85BDC9FD1C3A}</a:tableStyleId>
              </a:tblPr>
              <a:tblGrid>
                <a:gridCol w="5509334">
                  <a:extLst>
                    <a:ext uri="{9D8B030D-6E8A-4147-A177-3AD203B41FA5}">
                      <a16:colId xmlns:a16="http://schemas.microsoft.com/office/drawing/2014/main" val="1248665054"/>
                    </a:ext>
                  </a:extLst>
                </a:gridCol>
              </a:tblGrid>
              <a:tr h="370840">
                <a:tc>
                  <a:txBody>
                    <a:bodyPr/>
                    <a:lstStyle/>
                    <a:p>
                      <a:pPr algn="ctr"/>
                      <a:r>
                        <a:rPr lang="en-US" sz="1800" b="0" kern="1200" dirty="0">
                          <a:solidFill>
                            <a:schemeClr val="dk1"/>
                          </a:solidFill>
                          <a:latin typeface="+mn-lt"/>
                          <a:ea typeface="+mn-ea"/>
                          <a:cs typeface="+mn-cs"/>
                        </a:rPr>
                        <a:t>Motivation</a:t>
                      </a:r>
                    </a:p>
                  </a:txBody>
                  <a:tcPr anchor="b">
                    <a:solidFill>
                      <a:schemeClr val="accent1">
                        <a:lumMod val="40000"/>
                        <a:lumOff val="60000"/>
                      </a:schemeClr>
                    </a:solidFill>
                  </a:tcPr>
                </a:tc>
                <a:extLst>
                  <a:ext uri="{0D108BD9-81ED-4DB2-BD59-A6C34878D82A}">
                    <a16:rowId xmlns:a16="http://schemas.microsoft.com/office/drawing/2014/main" val="404223706"/>
                  </a:ext>
                </a:extLst>
              </a:tr>
              <a:tr h="370840">
                <a:tc>
                  <a:txBody>
                    <a:bodyPr/>
                    <a:lstStyle/>
                    <a:p>
                      <a:pPr algn="ctr"/>
                      <a:r>
                        <a:rPr lang="en-US" dirty="0"/>
                        <a:t>Business Question</a:t>
                      </a:r>
                    </a:p>
                  </a:txBody>
                  <a:tcPr anchor="b">
                    <a:solidFill>
                      <a:srgbClr val="B4C7E7"/>
                    </a:solidFill>
                  </a:tcPr>
                </a:tc>
                <a:extLst>
                  <a:ext uri="{0D108BD9-81ED-4DB2-BD59-A6C34878D82A}">
                    <a16:rowId xmlns:a16="http://schemas.microsoft.com/office/drawing/2014/main" val="355538206"/>
                  </a:ext>
                </a:extLst>
              </a:tr>
              <a:tr h="370840">
                <a:tc>
                  <a:txBody>
                    <a:bodyPr/>
                    <a:lstStyle/>
                    <a:p>
                      <a:pPr algn="ctr"/>
                      <a:r>
                        <a:rPr lang="en-US" dirty="0"/>
                        <a:t>Methodology</a:t>
                      </a:r>
                    </a:p>
                  </a:txBody>
                  <a:tcPr anchor="b">
                    <a:solidFill>
                      <a:srgbClr val="B4C7E7"/>
                    </a:solidFill>
                  </a:tcPr>
                </a:tc>
                <a:extLst>
                  <a:ext uri="{0D108BD9-81ED-4DB2-BD59-A6C34878D82A}">
                    <a16:rowId xmlns:a16="http://schemas.microsoft.com/office/drawing/2014/main" val="1448365020"/>
                  </a:ext>
                </a:extLst>
              </a:tr>
              <a:tr h="370840">
                <a:tc>
                  <a:txBody>
                    <a:bodyPr/>
                    <a:lstStyle/>
                    <a:p>
                      <a:pPr algn="ctr"/>
                      <a:r>
                        <a:rPr lang="en-US" b="1" dirty="0">
                          <a:solidFill>
                            <a:schemeClr val="bg1"/>
                          </a:solidFill>
                        </a:rPr>
                        <a:t>Analysis</a:t>
                      </a:r>
                    </a:p>
                  </a:txBody>
                  <a:tcPr anchor="b">
                    <a:solidFill>
                      <a:srgbClr val="4472C4"/>
                    </a:solidFill>
                  </a:tcPr>
                </a:tc>
                <a:extLst>
                  <a:ext uri="{0D108BD9-81ED-4DB2-BD59-A6C34878D82A}">
                    <a16:rowId xmlns:a16="http://schemas.microsoft.com/office/drawing/2014/main" val="2826135216"/>
                  </a:ext>
                </a:extLst>
              </a:tr>
              <a:tr h="370840">
                <a:tc>
                  <a:txBody>
                    <a:bodyPr/>
                    <a:lstStyle/>
                    <a:p>
                      <a:pPr algn="ctr"/>
                      <a:r>
                        <a:rPr lang="en-US" dirty="0"/>
                        <a:t>Key Takeaways</a:t>
                      </a:r>
                    </a:p>
                  </a:txBody>
                  <a:tcPr anchor="b">
                    <a:solidFill>
                      <a:srgbClr val="B4C7E7"/>
                    </a:solidFill>
                  </a:tcPr>
                </a:tc>
                <a:extLst>
                  <a:ext uri="{0D108BD9-81ED-4DB2-BD59-A6C34878D82A}">
                    <a16:rowId xmlns:a16="http://schemas.microsoft.com/office/drawing/2014/main" val="3909173956"/>
                  </a:ext>
                </a:extLst>
              </a:tr>
              <a:tr h="370840">
                <a:tc>
                  <a:txBody>
                    <a:bodyPr/>
                    <a:lstStyle/>
                    <a:p>
                      <a:pPr algn="ctr"/>
                      <a:r>
                        <a:rPr lang="en-US" dirty="0"/>
                        <a:t>Appendix</a:t>
                      </a:r>
                    </a:p>
                  </a:txBody>
                  <a:tcPr anchor="b">
                    <a:solidFill>
                      <a:schemeClr val="accent1">
                        <a:lumMod val="40000"/>
                        <a:lumOff val="60000"/>
                      </a:schemeClr>
                    </a:solidFill>
                  </a:tcPr>
                </a:tc>
                <a:extLst>
                  <a:ext uri="{0D108BD9-81ED-4DB2-BD59-A6C34878D82A}">
                    <a16:rowId xmlns:a16="http://schemas.microsoft.com/office/drawing/2014/main" val="3631025880"/>
                  </a:ext>
                </a:extLst>
              </a:tr>
            </a:tbl>
          </a:graphicData>
        </a:graphic>
      </p:graphicFrame>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1670592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E98135-1B7D-4322-8062-5B7D7D5B7867}"/>
              </a:ext>
            </a:extLst>
          </p:cNvPr>
          <p:cNvSpPr>
            <a:spLocks noGrp="1"/>
          </p:cNvSpPr>
          <p:nvPr>
            <p:ph type="title"/>
          </p:nvPr>
        </p:nvSpPr>
        <p:spPr/>
        <p:txBody>
          <a:bodyPr>
            <a:normAutofit/>
          </a:bodyPr>
          <a:lstStyle/>
          <a:p>
            <a:r>
              <a:rPr lang="en-US" sz="3600" dirty="0">
                <a:solidFill>
                  <a:schemeClr val="accent1">
                    <a:lumMod val="75000"/>
                  </a:schemeClr>
                </a:solidFill>
              </a:rPr>
              <a:t>Pandora observes a dip in the negative comments after 2012…</a:t>
            </a:r>
          </a:p>
        </p:txBody>
      </p:sp>
      <p:pic>
        <p:nvPicPr>
          <p:cNvPr id="7" name="Picture 6" descr="cid:image002.png@01D4833E.89B4B740">
            <a:extLst>
              <a:ext uri="{FF2B5EF4-FFF2-40B4-BE49-F238E27FC236}">
                <a16:creationId xmlns:a16="http://schemas.microsoft.com/office/drawing/2014/main" id="{AADE0F76-3BBA-4116-A012-F1CC7776BDD7}"/>
              </a:ext>
            </a:extLst>
          </p:cNvPr>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554369" y="1656949"/>
            <a:ext cx="6876288" cy="4133088"/>
          </a:xfrm>
          <a:prstGeom prst="rect">
            <a:avLst/>
          </a:prstGeom>
          <a:noFill/>
        </p:spPr>
      </p:pic>
      <p:sp>
        <p:nvSpPr>
          <p:cNvPr id="8" name="Rectangle 7">
            <a:extLst>
              <a:ext uri="{FF2B5EF4-FFF2-40B4-BE49-F238E27FC236}">
                <a16:creationId xmlns:a16="http://schemas.microsoft.com/office/drawing/2014/main" id="{5C2EB77B-31A1-43C1-945D-9373E0B6CA5C}"/>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pic>
        <p:nvPicPr>
          <p:cNvPr id="3" name="Picture 2">
            <a:extLst>
              <a:ext uri="{FF2B5EF4-FFF2-40B4-BE49-F238E27FC236}">
                <a16:creationId xmlns:a16="http://schemas.microsoft.com/office/drawing/2014/main" id="{88FBFB8C-1691-40CF-922B-98F3D7D55C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0223" y="3544815"/>
            <a:ext cx="1629526" cy="327573"/>
          </a:xfrm>
          <a:prstGeom prst="rect">
            <a:avLst/>
          </a:prstGeom>
        </p:spPr>
      </p:pic>
      <p:pic>
        <p:nvPicPr>
          <p:cNvPr id="9" name="Picture 8" descr="A picture containing vector graphics&#10;&#10;Description automatically generated">
            <a:extLst>
              <a:ext uri="{FF2B5EF4-FFF2-40B4-BE49-F238E27FC236}">
                <a16:creationId xmlns:a16="http://schemas.microsoft.com/office/drawing/2014/main" id="{0333BB36-BF84-4F88-90F8-0E8185701D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57453" y="2267630"/>
            <a:ext cx="1315065" cy="1315065"/>
          </a:xfrm>
          <a:prstGeom prst="rect">
            <a:avLst/>
          </a:prstGeom>
        </p:spPr>
      </p:pic>
    </p:spTree>
    <p:extLst>
      <p:ext uri="{BB962C8B-B14F-4D97-AF65-F5344CB8AC3E}">
        <p14:creationId xmlns:p14="http://schemas.microsoft.com/office/powerpoint/2010/main" val="4139474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E98135-1B7D-4322-8062-5B7D7D5B7867}"/>
              </a:ext>
            </a:extLst>
          </p:cNvPr>
          <p:cNvSpPr>
            <a:spLocks noGrp="1"/>
          </p:cNvSpPr>
          <p:nvPr>
            <p:ph type="title"/>
          </p:nvPr>
        </p:nvSpPr>
        <p:spPr/>
        <p:txBody>
          <a:bodyPr>
            <a:normAutofit/>
          </a:bodyPr>
          <a:lstStyle/>
          <a:p>
            <a:r>
              <a:rPr lang="en-US" sz="3600" dirty="0">
                <a:solidFill>
                  <a:schemeClr val="accent1">
                    <a:lumMod val="75000"/>
                  </a:schemeClr>
                </a:solidFill>
              </a:rPr>
              <a:t>…However, there is an increase in the negative comments for Spotify from 2014 – 2016</a:t>
            </a:r>
          </a:p>
        </p:txBody>
      </p:sp>
      <p:pic>
        <p:nvPicPr>
          <p:cNvPr id="8" name="Picture 7" descr="cid:image003.png@01D4833F.895EB290">
            <a:extLst>
              <a:ext uri="{FF2B5EF4-FFF2-40B4-BE49-F238E27FC236}">
                <a16:creationId xmlns:a16="http://schemas.microsoft.com/office/drawing/2014/main" id="{35517061-5B1F-4AD4-8311-339CDD182CE5}"/>
              </a:ext>
            </a:extLst>
          </p:cNvPr>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657856" y="1813053"/>
            <a:ext cx="6876288" cy="4133088"/>
          </a:xfrm>
          <a:prstGeom prst="rect">
            <a:avLst/>
          </a:prstGeom>
          <a:noFill/>
          <a:ln>
            <a:noFill/>
          </a:ln>
        </p:spPr>
      </p:pic>
      <p:sp>
        <p:nvSpPr>
          <p:cNvPr id="9" name="Rectangle 8">
            <a:extLst>
              <a:ext uri="{FF2B5EF4-FFF2-40B4-BE49-F238E27FC236}">
                <a16:creationId xmlns:a16="http://schemas.microsoft.com/office/drawing/2014/main" id="{E0106D95-5CCF-4A7B-B669-7E76C84285BD}"/>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pic>
        <p:nvPicPr>
          <p:cNvPr id="3" name="Picture 2" descr="A close up of a logo&#10;&#10;Description automatically generated">
            <a:extLst>
              <a:ext uri="{FF2B5EF4-FFF2-40B4-BE49-F238E27FC236}">
                <a16:creationId xmlns:a16="http://schemas.microsoft.com/office/drawing/2014/main" id="{DE0370DE-75FE-4A8C-8473-C2B7B85356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60583" y="3169601"/>
            <a:ext cx="2368659" cy="709996"/>
          </a:xfrm>
          <a:prstGeom prst="rect">
            <a:avLst/>
          </a:prstGeom>
        </p:spPr>
      </p:pic>
    </p:spTree>
    <p:extLst>
      <p:ext uri="{BB962C8B-B14F-4D97-AF65-F5344CB8AC3E}">
        <p14:creationId xmlns:p14="http://schemas.microsoft.com/office/powerpoint/2010/main" val="123354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E98135-1B7D-4322-8062-5B7D7D5B7867}"/>
              </a:ext>
            </a:extLst>
          </p:cNvPr>
          <p:cNvSpPr>
            <a:spLocks noGrp="1"/>
          </p:cNvSpPr>
          <p:nvPr>
            <p:ph type="title"/>
          </p:nvPr>
        </p:nvSpPr>
        <p:spPr/>
        <p:txBody>
          <a:bodyPr>
            <a:normAutofit/>
          </a:bodyPr>
          <a:lstStyle/>
          <a:p>
            <a:r>
              <a:rPr lang="en-US" sz="3600" dirty="0">
                <a:solidFill>
                  <a:schemeClr val="accent1">
                    <a:lumMod val="75000"/>
                  </a:schemeClr>
                </a:solidFill>
              </a:rPr>
              <a:t>Amazon music manages to garner positive comments over the years…</a:t>
            </a:r>
          </a:p>
        </p:txBody>
      </p:sp>
      <p:pic>
        <p:nvPicPr>
          <p:cNvPr id="4" name="Content Placeholder 3" descr="cid:image003.png@01D4833C.CD826BE0">
            <a:extLst>
              <a:ext uri="{FF2B5EF4-FFF2-40B4-BE49-F238E27FC236}">
                <a16:creationId xmlns:a16="http://schemas.microsoft.com/office/drawing/2014/main" id="{CE837A28-42EA-458F-BC26-FF991ACDBD76}"/>
              </a:ext>
            </a:extLst>
          </p:cNvPr>
          <p:cNvPicPr>
            <a:picLocks noGrp="1"/>
          </p:cNvPicPr>
          <p:nvPr>
            <p:ph idx="1"/>
          </p:nvPr>
        </p:nvPicPr>
        <p:blipFill>
          <a:blip r:embed="rId3" r:link="rId4">
            <a:extLst>
              <a:ext uri="{28A0092B-C50C-407E-A947-70E740481C1C}">
                <a14:useLocalDpi xmlns:a14="http://schemas.microsoft.com/office/drawing/2010/main" val="0"/>
              </a:ext>
            </a:extLst>
          </a:blip>
          <a:stretch>
            <a:fillRect/>
          </a:stretch>
        </p:blipFill>
        <p:spPr bwMode="auto">
          <a:xfrm>
            <a:off x="2656995" y="1934080"/>
            <a:ext cx="6878010" cy="4134427"/>
          </a:xfrm>
          <a:prstGeom prst="rect">
            <a:avLst/>
          </a:prstGeom>
          <a:noFill/>
        </p:spPr>
      </p:pic>
      <p:sp>
        <p:nvSpPr>
          <p:cNvPr id="17" name="Rectangle 16">
            <a:extLst>
              <a:ext uri="{FF2B5EF4-FFF2-40B4-BE49-F238E27FC236}">
                <a16:creationId xmlns:a16="http://schemas.microsoft.com/office/drawing/2014/main" id="{27E7283E-C5D4-43E2-9250-2A22ABACDCBA}"/>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pic>
        <p:nvPicPr>
          <p:cNvPr id="3" name="Picture 2" descr="A picture containing object&#10;&#10;Description automatically generated">
            <a:extLst>
              <a:ext uri="{FF2B5EF4-FFF2-40B4-BE49-F238E27FC236}">
                <a16:creationId xmlns:a16="http://schemas.microsoft.com/office/drawing/2014/main" id="{A79F19BB-185B-4184-B2E2-E54CFF7FED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77877" y="3304713"/>
            <a:ext cx="2295149" cy="627889"/>
          </a:xfrm>
          <a:prstGeom prst="rect">
            <a:avLst/>
          </a:prstGeom>
        </p:spPr>
      </p:pic>
    </p:spTree>
    <p:extLst>
      <p:ext uri="{BB962C8B-B14F-4D97-AF65-F5344CB8AC3E}">
        <p14:creationId xmlns:p14="http://schemas.microsoft.com/office/powerpoint/2010/main" val="1639102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27E3A188-1341-4857-92CE-EF319AE84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003" y="208248"/>
            <a:ext cx="3570710" cy="3240000"/>
          </a:xfrm>
          <a:prstGeom prst="rect">
            <a:avLst/>
          </a:prstGeom>
        </p:spPr>
      </p:pic>
      <p:pic>
        <p:nvPicPr>
          <p:cNvPr id="25" name="Picture 24">
            <a:extLst>
              <a:ext uri="{FF2B5EF4-FFF2-40B4-BE49-F238E27FC236}">
                <a16:creationId xmlns:a16="http://schemas.microsoft.com/office/drawing/2014/main" id="{112CB34C-60C1-4407-9F86-FA84361DD2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1544" y="208248"/>
            <a:ext cx="3088912" cy="3240000"/>
          </a:xfrm>
          <a:prstGeom prst="rect">
            <a:avLst/>
          </a:prstGeom>
        </p:spPr>
      </p:pic>
      <p:pic>
        <p:nvPicPr>
          <p:cNvPr id="38" name="Picture 37">
            <a:extLst>
              <a:ext uri="{FF2B5EF4-FFF2-40B4-BE49-F238E27FC236}">
                <a16:creationId xmlns:a16="http://schemas.microsoft.com/office/drawing/2014/main" id="{5C9AC570-A9B3-485F-8B92-D59FE2A216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3287" y="3421041"/>
            <a:ext cx="3908485" cy="3240000"/>
          </a:xfrm>
          <a:prstGeom prst="rect">
            <a:avLst/>
          </a:prstGeom>
        </p:spPr>
      </p:pic>
      <p:pic>
        <p:nvPicPr>
          <p:cNvPr id="41" name="Picture 40">
            <a:extLst>
              <a:ext uri="{FF2B5EF4-FFF2-40B4-BE49-F238E27FC236}">
                <a16:creationId xmlns:a16="http://schemas.microsoft.com/office/drawing/2014/main" id="{32233D63-E93B-410B-8511-DFCA058246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6169" y="3390900"/>
            <a:ext cx="3925087" cy="3240000"/>
          </a:xfrm>
          <a:prstGeom prst="rect">
            <a:avLst/>
          </a:prstGeom>
        </p:spPr>
      </p:pic>
      <p:sp>
        <p:nvSpPr>
          <p:cNvPr id="18" name="TextBox 17">
            <a:extLst>
              <a:ext uri="{FF2B5EF4-FFF2-40B4-BE49-F238E27FC236}">
                <a16:creationId xmlns:a16="http://schemas.microsoft.com/office/drawing/2014/main" id="{25F11CA2-EFDB-4EFC-80F0-FB86FE284A3A}"/>
              </a:ext>
            </a:extLst>
          </p:cNvPr>
          <p:cNvSpPr txBox="1"/>
          <p:nvPr/>
        </p:nvSpPr>
        <p:spPr>
          <a:xfrm>
            <a:off x="892721" y="150900"/>
            <a:ext cx="2993479" cy="707886"/>
          </a:xfrm>
          <a:prstGeom prst="rect">
            <a:avLst/>
          </a:prstGeom>
          <a:noFill/>
        </p:spPr>
        <p:txBody>
          <a:bodyPr wrap="square" rtlCol="0">
            <a:spAutoFit/>
          </a:bodyPr>
          <a:lstStyle/>
          <a:p>
            <a:r>
              <a:rPr lang="en-US" sz="4000" dirty="0">
                <a:solidFill>
                  <a:srgbClr val="B15928"/>
                </a:solidFill>
                <a:latin typeface="Arial" panose="020B0604020202020204" pitchFamily="34" charset="0"/>
                <a:cs typeface="Arial" panose="020B0604020202020204" pitchFamily="34" charset="0"/>
              </a:rPr>
              <a:t>prime music</a:t>
            </a:r>
            <a:endParaRPr lang="en-IN" sz="4000" dirty="0">
              <a:solidFill>
                <a:srgbClr val="B15928"/>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27E2E4C2-C907-4168-B58B-909DD2691694}"/>
              </a:ext>
            </a:extLst>
          </p:cNvPr>
          <p:cNvSpPr txBox="1"/>
          <p:nvPr/>
        </p:nvSpPr>
        <p:spPr>
          <a:xfrm>
            <a:off x="8517112" y="5129947"/>
            <a:ext cx="2993479" cy="707886"/>
          </a:xfrm>
          <a:prstGeom prst="rect">
            <a:avLst/>
          </a:prstGeom>
          <a:noFill/>
        </p:spPr>
        <p:txBody>
          <a:bodyPr wrap="square" rtlCol="0">
            <a:spAutoFit/>
          </a:bodyPr>
          <a:lstStyle/>
          <a:p>
            <a:r>
              <a:rPr lang="en-US" sz="4000" dirty="0">
                <a:solidFill>
                  <a:srgbClr val="B15928"/>
                </a:solidFill>
                <a:latin typeface="Arial" panose="020B0604020202020204" pitchFamily="34" charset="0"/>
                <a:cs typeface="Arial" panose="020B0604020202020204" pitchFamily="34" charset="0"/>
              </a:rPr>
              <a:t>prime music</a:t>
            </a:r>
            <a:endParaRPr lang="en-IN" sz="4000" dirty="0">
              <a:solidFill>
                <a:srgbClr val="B15928"/>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6E194337-E475-46BF-B2CF-E7CB81DD95F8}"/>
              </a:ext>
            </a:extLst>
          </p:cNvPr>
          <p:cNvSpPr txBox="1"/>
          <p:nvPr/>
        </p:nvSpPr>
        <p:spPr>
          <a:xfrm rot="-5400000">
            <a:off x="5693321" y="1890800"/>
            <a:ext cx="2993479" cy="707886"/>
          </a:xfrm>
          <a:prstGeom prst="rect">
            <a:avLst/>
          </a:prstGeom>
          <a:noFill/>
        </p:spPr>
        <p:txBody>
          <a:bodyPr wrap="square" rtlCol="0">
            <a:spAutoFit/>
          </a:bodyPr>
          <a:lstStyle/>
          <a:p>
            <a:r>
              <a:rPr lang="en-US" sz="4000" dirty="0">
                <a:solidFill>
                  <a:srgbClr val="B15928"/>
                </a:solidFill>
                <a:latin typeface="Arial" panose="020B0604020202020204" pitchFamily="34" charset="0"/>
                <a:cs typeface="Arial" panose="020B0604020202020204" pitchFamily="34" charset="0"/>
              </a:rPr>
              <a:t>prime music</a:t>
            </a:r>
            <a:endParaRPr lang="en-IN" sz="4000" dirty="0">
              <a:solidFill>
                <a:srgbClr val="B15928"/>
              </a:solidFill>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02DAC824-88F1-4674-90EE-93F0D0399819}"/>
              </a:ext>
            </a:extLst>
          </p:cNvPr>
          <p:cNvSpPr txBox="1"/>
          <p:nvPr/>
        </p:nvSpPr>
        <p:spPr>
          <a:xfrm>
            <a:off x="3242221" y="3554500"/>
            <a:ext cx="2993479" cy="707886"/>
          </a:xfrm>
          <a:prstGeom prst="rect">
            <a:avLst/>
          </a:prstGeom>
          <a:noFill/>
        </p:spPr>
        <p:txBody>
          <a:bodyPr wrap="square" rtlCol="0">
            <a:spAutoFit/>
          </a:bodyPr>
          <a:lstStyle/>
          <a:p>
            <a:r>
              <a:rPr lang="en-US" sz="4000" dirty="0">
                <a:solidFill>
                  <a:srgbClr val="B15928"/>
                </a:solidFill>
                <a:latin typeface="Arial" panose="020B0604020202020204" pitchFamily="34" charset="0"/>
                <a:cs typeface="Arial" panose="020B0604020202020204" pitchFamily="34" charset="0"/>
              </a:rPr>
              <a:t>prime music</a:t>
            </a:r>
            <a:endParaRPr lang="en-IN" sz="4000" dirty="0">
              <a:solidFill>
                <a:srgbClr val="B15928"/>
              </a:solidFill>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E045BF36-012C-4446-85C3-31C8376980A7}"/>
              </a:ext>
            </a:extLst>
          </p:cNvPr>
          <p:cNvSpPr txBox="1"/>
          <p:nvPr/>
        </p:nvSpPr>
        <p:spPr>
          <a:xfrm>
            <a:off x="5802177" y="1854513"/>
            <a:ext cx="2993479" cy="707886"/>
          </a:xfrm>
          <a:prstGeom prst="rect">
            <a:avLst/>
          </a:prstGeom>
          <a:noFill/>
        </p:spPr>
        <p:txBody>
          <a:bodyPr wrap="square" rtlCol="0">
            <a:spAutoFit/>
          </a:bodyPr>
          <a:lstStyle/>
          <a:p>
            <a:r>
              <a:rPr lang="en-US" sz="4000" dirty="0">
                <a:solidFill>
                  <a:srgbClr val="B15928"/>
                </a:solidFill>
                <a:latin typeface="Arial" panose="020B0604020202020204" pitchFamily="34" charset="0"/>
                <a:cs typeface="Arial" panose="020B0604020202020204" pitchFamily="34" charset="0"/>
              </a:rPr>
              <a:t>prime music</a:t>
            </a:r>
            <a:endParaRPr lang="en-IN" sz="4000" dirty="0">
              <a:solidFill>
                <a:srgbClr val="B15928"/>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BA36C1A-C321-4A31-A78F-1D4305557529}"/>
              </a:ext>
            </a:extLst>
          </p:cNvPr>
          <p:cNvSpPr txBox="1"/>
          <p:nvPr/>
        </p:nvSpPr>
        <p:spPr>
          <a:xfrm>
            <a:off x="1327355" y="3421041"/>
            <a:ext cx="652743" cy="369332"/>
          </a:xfrm>
          <a:prstGeom prst="rect">
            <a:avLst/>
          </a:prstGeom>
          <a:noFill/>
        </p:spPr>
        <p:txBody>
          <a:bodyPr wrap="none" rtlCol="0">
            <a:spAutoFit/>
          </a:bodyPr>
          <a:lstStyle/>
          <a:p>
            <a:r>
              <a:rPr lang="en-IN" b="1" dirty="0"/>
              <a:t>2011</a:t>
            </a:r>
          </a:p>
        </p:txBody>
      </p:sp>
      <p:sp>
        <p:nvSpPr>
          <p:cNvPr id="3" name="TextBox 2">
            <a:extLst>
              <a:ext uri="{FF2B5EF4-FFF2-40B4-BE49-F238E27FC236}">
                <a16:creationId xmlns:a16="http://schemas.microsoft.com/office/drawing/2014/main" id="{A03D58A6-7B7D-4CCC-AEFE-591D3B1EA96D}"/>
              </a:ext>
            </a:extLst>
          </p:cNvPr>
          <p:cNvSpPr txBox="1"/>
          <p:nvPr/>
        </p:nvSpPr>
        <p:spPr>
          <a:xfrm>
            <a:off x="7817295" y="1240526"/>
            <a:ext cx="652743" cy="369332"/>
          </a:xfrm>
          <a:prstGeom prst="rect">
            <a:avLst/>
          </a:prstGeom>
          <a:noFill/>
        </p:spPr>
        <p:txBody>
          <a:bodyPr wrap="none" rtlCol="0">
            <a:spAutoFit/>
          </a:bodyPr>
          <a:lstStyle/>
          <a:p>
            <a:r>
              <a:rPr lang="en-IN" b="1" dirty="0"/>
              <a:t>2012</a:t>
            </a:r>
          </a:p>
        </p:txBody>
      </p:sp>
      <p:sp>
        <p:nvSpPr>
          <p:cNvPr id="4" name="TextBox 3">
            <a:extLst>
              <a:ext uri="{FF2B5EF4-FFF2-40B4-BE49-F238E27FC236}">
                <a16:creationId xmlns:a16="http://schemas.microsoft.com/office/drawing/2014/main" id="{B016100F-B560-4EC1-B42D-84943AA7480F}"/>
              </a:ext>
            </a:extLst>
          </p:cNvPr>
          <p:cNvSpPr txBox="1"/>
          <p:nvPr/>
        </p:nvSpPr>
        <p:spPr>
          <a:xfrm>
            <a:off x="10279626" y="3169997"/>
            <a:ext cx="652743" cy="369332"/>
          </a:xfrm>
          <a:prstGeom prst="rect">
            <a:avLst/>
          </a:prstGeom>
          <a:noFill/>
        </p:spPr>
        <p:txBody>
          <a:bodyPr wrap="none" rtlCol="0">
            <a:spAutoFit/>
          </a:bodyPr>
          <a:lstStyle/>
          <a:p>
            <a:r>
              <a:rPr lang="en-IN" b="1" dirty="0"/>
              <a:t>2013</a:t>
            </a:r>
          </a:p>
        </p:txBody>
      </p:sp>
      <p:sp>
        <p:nvSpPr>
          <p:cNvPr id="5" name="TextBox 4">
            <a:extLst>
              <a:ext uri="{FF2B5EF4-FFF2-40B4-BE49-F238E27FC236}">
                <a16:creationId xmlns:a16="http://schemas.microsoft.com/office/drawing/2014/main" id="{EF256447-090A-44A1-B857-D3B9FD498B4B}"/>
              </a:ext>
            </a:extLst>
          </p:cNvPr>
          <p:cNvSpPr txBox="1"/>
          <p:nvPr/>
        </p:nvSpPr>
        <p:spPr>
          <a:xfrm>
            <a:off x="4911213" y="6459794"/>
            <a:ext cx="652743" cy="369332"/>
          </a:xfrm>
          <a:prstGeom prst="rect">
            <a:avLst/>
          </a:prstGeom>
          <a:noFill/>
        </p:spPr>
        <p:txBody>
          <a:bodyPr wrap="none" rtlCol="0">
            <a:spAutoFit/>
          </a:bodyPr>
          <a:lstStyle/>
          <a:p>
            <a:r>
              <a:rPr lang="en-IN" b="1" dirty="0"/>
              <a:t>2014</a:t>
            </a:r>
          </a:p>
        </p:txBody>
      </p:sp>
    </p:spTree>
    <p:extLst>
      <p:ext uri="{BB962C8B-B14F-4D97-AF65-F5344CB8AC3E}">
        <p14:creationId xmlns:p14="http://schemas.microsoft.com/office/powerpoint/2010/main" val="4232007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path" presetSubtype="0" accel="50000" decel="50000" fill="hold" grpId="0" nodeType="clickEffect">
                                  <p:stCondLst>
                                    <p:cond delay="0"/>
                                  </p:stCondLst>
                                  <p:childTnLst>
                                    <p:animMotion origin="layout" path="M -3.54167E-6 -1.11111E-6 L 0.30534 0.42639 " pathEditMode="relative" rAng="0" ptsTypes="AA">
                                      <p:cBhvr>
                                        <p:cTn id="6" dur="2000" fill="hold"/>
                                        <p:tgtEl>
                                          <p:spTgt spid="18"/>
                                        </p:tgtEl>
                                        <p:attrNameLst>
                                          <p:attrName>ppt_x</p:attrName>
                                          <p:attrName>ppt_y</p:attrName>
                                        </p:attrNameLst>
                                      </p:cBhvr>
                                      <p:rCtr x="15260" y="21319"/>
                                    </p:animMotion>
                                  </p:childTnLst>
                                </p:cTn>
                              </p:par>
                              <p:par>
                                <p:cTn id="7" presetID="35" presetClass="path" presetSubtype="0" accel="50000" decel="50000" fill="hold" grpId="0" nodeType="withEffect">
                                  <p:stCondLst>
                                    <p:cond delay="0"/>
                                  </p:stCondLst>
                                  <p:childTnLst>
                                    <p:animMotion origin="layout" path="M -4.16667E-6 2.96296E-6 L -0.32057 -0.3007 " pathEditMode="relative" rAng="0" ptsTypes="AA">
                                      <p:cBhvr>
                                        <p:cTn id="8" dur="2000" fill="hold"/>
                                        <p:tgtEl>
                                          <p:spTgt spid="39"/>
                                        </p:tgtEl>
                                        <p:attrNameLst>
                                          <p:attrName>ppt_x</p:attrName>
                                          <p:attrName>ppt_y</p:attrName>
                                        </p:attrNameLst>
                                      </p:cBhvr>
                                      <p:rCtr x="-16029" y="-15046"/>
                                    </p:animMotion>
                                  </p:childTnLst>
                                </p:cTn>
                              </p:par>
                              <p:par>
                                <p:cTn id="9" presetID="56" presetClass="path" presetSubtype="0" accel="50000" decel="50000" fill="hold" grpId="0" nodeType="withEffect">
                                  <p:stCondLst>
                                    <p:cond delay="0"/>
                                  </p:stCondLst>
                                  <p:childTnLst>
                                    <p:animMotion origin="layout" path="M -1.875E-6 2.59259E-6 L 0.11263 -0.06991 " pathEditMode="relative" rAng="0" ptsTypes="AA">
                                      <p:cBhvr>
                                        <p:cTn id="10" dur="2000" fill="hold"/>
                                        <p:tgtEl>
                                          <p:spTgt spid="42"/>
                                        </p:tgtEl>
                                        <p:attrNameLst>
                                          <p:attrName>ppt_x</p:attrName>
                                          <p:attrName>ppt_y</p:attrName>
                                        </p:attrNameLst>
                                      </p:cBhvr>
                                      <p:rCtr x="5625" y="-3495"/>
                                    </p:animMotion>
                                  </p:childTnLst>
                                </p:cTn>
                              </p:par>
                              <p:par>
                                <p:cTn id="11" presetID="8" presetClass="emph" presetSubtype="0" fill="hold" grpId="0" nodeType="withEffect">
                                  <p:stCondLst>
                                    <p:cond delay="0"/>
                                  </p:stCondLst>
                                  <p:childTnLst>
                                    <p:animRot by="5400000">
                                      <p:cBhvr>
                                        <p:cTn id="12" dur="500" fill="hold"/>
                                        <p:tgtEl>
                                          <p:spTgt spid="37"/>
                                        </p:tgtEl>
                                        <p:attrNameLst>
                                          <p:attrName>r</p:attrName>
                                        </p:attrNameLst>
                                      </p:cBhvr>
                                    </p:animRot>
                                  </p:childTnLst>
                                </p:cTn>
                              </p:par>
                              <p:par>
                                <p:cTn id="13" presetID="1" presetClass="entr" presetSubtype="0" fill="hold" grpId="0" nodeType="withEffect">
                                  <p:stCondLst>
                                    <p:cond delay="500"/>
                                  </p:stCondLst>
                                  <p:childTnLst>
                                    <p:set>
                                      <p:cBhvr>
                                        <p:cTn id="14" dur="1" fill="hold">
                                          <p:stCondLst>
                                            <p:cond delay="0"/>
                                          </p:stCondLst>
                                        </p:cTn>
                                        <p:tgtEl>
                                          <p:spTgt spid="46"/>
                                        </p:tgtEl>
                                        <p:attrNameLst>
                                          <p:attrName>style.visibility</p:attrName>
                                        </p:attrNameLst>
                                      </p:cBhvr>
                                      <p:to>
                                        <p:strVal val="visible"/>
                                      </p:to>
                                    </p:set>
                                  </p:childTnLst>
                                </p:cTn>
                              </p:par>
                              <p:par>
                                <p:cTn id="15" presetID="42" presetClass="path" presetSubtype="0" accel="50000" decel="50000" fill="hold" grpId="1" nodeType="withEffect">
                                  <p:stCondLst>
                                    <p:cond delay="800"/>
                                  </p:stCondLst>
                                  <p:childTnLst>
                                    <p:animMotion origin="layout" path="M 2.08333E-6 -7.40741E-7 L -0.0974 0.17801 " pathEditMode="relative" rAng="0" ptsTypes="AA">
                                      <p:cBhvr>
                                        <p:cTn id="16" dur="1200" fill="hold"/>
                                        <p:tgtEl>
                                          <p:spTgt spid="46"/>
                                        </p:tgtEl>
                                        <p:attrNameLst>
                                          <p:attrName>ppt_x</p:attrName>
                                          <p:attrName>ppt_y</p:attrName>
                                        </p:attrNameLst>
                                      </p:cBhvr>
                                      <p:rCtr x="-4870" y="8889"/>
                                    </p:animMotion>
                                  </p:childTnLst>
                                </p:cTn>
                              </p:par>
                              <p:par>
                                <p:cTn id="17" presetID="1" presetClass="exit" presetSubtype="0" fill="hold" grpId="1" nodeType="withEffect">
                                  <p:stCondLst>
                                    <p:cond delay="800"/>
                                  </p:stCondLst>
                                  <p:childTnLst>
                                    <p:set>
                                      <p:cBhvr>
                                        <p:cTn id="18" dur="1" fill="hold">
                                          <p:stCondLst>
                                            <p:cond delay="0"/>
                                          </p:stCondLst>
                                        </p:cTn>
                                        <p:tgtEl>
                                          <p:spTgt spid="37"/>
                                        </p:tgtEl>
                                        <p:attrNameLst>
                                          <p:attrName>style.visibility</p:attrName>
                                        </p:attrNameLst>
                                      </p:cBhvr>
                                      <p:to>
                                        <p:strVal val="hidden"/>
                                      </p:to>
                                    </p:set>
                                  </p:childTnLst>
                                </p:cTn>
                              </p:par>
                              <p:par>
                                <p:cTn id="19" presetID="14" presetClass="exit" presetSubtype="10" fill="hold" nodeType="withEffect">
                                  <p:stCondLst>
                                    <p:cond delay="0"/>
                                  </p:stCondLst>
                                  <p:childTnLst>
                                    <p:animEffect transition="out" filter="randombar(horizontal)">
                                      <p:cBhvr>
                                        <p:cTn id="20" dur="500"/>
                                        <p:tgtEl>
                                          <p:spTgt spid="21"/>
                                        </p:tgtEl>
                                      </p:cBhvr>
                                    </p:animEffect>
                                    <p:set>
                                      <p:cBhvr>
                                        <p:cTn id="21" dur="1" fill="hold">
                                          <p:stCondLst>
                                            <p:cond delay="499"/>
                                          </p:stCondLst>
                                        </p:cTn>
                                        <p:tgtEl>
                                          <p:spTgt spid="21"/>
                                        </p:tgtEl>
                                        <p:attrNameLst>
                                          <p:attrName>style.visibility</p:attrName>
                                        </p:attrNameLst>
                                      </p:cBhvr>
                                      <p:to>
                                        <p:strVal val="hidden"/>
                                      </p:to>
                                    </p:set>
                                  </p:childTnLst>
                                </p:cTn>
                              </p:par>
                              <p:par>
                                <p:cTn id="22" presetID="14" presetClass="exit" presetSubtype="10" fill="hold" nodeType="withEffect">
                                  <p:stCondLst>
                                    <p:cond delay="0"/>
                                  </p:stCondLst>
                                  <p:childTnLst>
                                    <p:animEffect transition="out" filter="randombar(horizontal)">
                                      <p:cBhvr>
                                        <p:cTn id="23" dur="500"/>
                                        <p:tgtEl>
                                          <p:spTgt spid="25"/>
                                        </p:tgtEl>
                                      </p:cBhvr>
                                    </p:animEffect>
                                    <p:set>
                                      <p:cBhvr>
                                        <p:cTn id="24" dur="1" fill="hold">
                                          <p:stCondLst>
                                            <p:cond delay="499"/>
                                          </p:stCondLst>
                                        </p:cTn>
                                        <p:tgtEl>
                                          <p:spTgt spid="25"/>
                                        </p:tgtEl>
                                        <p:attrNameLst>
                                          <p:attrName>style.visibility</p:attrName>
                                        </p:attrNameLst>
                                      </p:cBhvr>
                                      <p:to>
                                        <p:strVal val="hidden"/>
                                      </p:to>
                                    </p:set>
                                  </p:childTnLst>
                                </p:cTn>
                              </p:par>
                              <p:par>
                                <p:cTn id="25" presetID="14" presetClass="exit" presetSubtype="10" fill="hold" nodeType="withEffect">
                                  <p:stCondLst>
                                    <p:cond delay="0"/>
                                  </p:stCondLst>
                                  <p:childTnLst>
                                    <p:animEffect transition="out" filter="randombar(horizontal)">
                                      <p:cBhvr>
                                        <p:cTn id="26" dur="500"/>
                                        <p:tgtEl>
                                          <p:spTgt spid="38"/>
                                        </p:tgtEl>
                                      </p:cBhvr>
                                    </p:animEffect>
                                    <p:set>
                                      <p:cBhvr>
                                        <p:cTn id="27" dur="1" fill="hold">
                                          <p:stCondLst>
                                            <p:cond delay="499"/>
                                          </p:stCondLst>
                                        </p:cTn>
                                        <p:tgtEl>
                                          <p:spTgt spid="38"/>
                                        </p:tgtEl>
                                        <p:attrNameLst>
                                          <p:attrName>style.visibility</p:attrName>
                                        </p:attrNameLst>
                                      </p:cBhvr>
                                      <p:to>
                                        <p:strVal val="hidden"/>
                                      </p:to>
                                    </p:set>
                                  </p:childTnLst>
                                </p:cTn>
                              </p:par>
                              <p:par>
                                <p:cTn id="28" presetID="14" presetClass="exit" presetSubtype="10" fill="hold" nodeType="withEffect">
                                  <p:stCondLst>
                                    <p:cond delay="0"/>
                                  </p:stCondLst>
                                  <p:childTnLst>
                                    <p:animEffect transition="out" filter="randombar(horizontal)">
                                      <p:cBhvr>
                                        <p:cTn id="29" dur="500"/>
                                        <p:tgtEl>
                                          <p:spTgt spid="41"/>
                                        </p:tgtEl>
                                      </p:cBhvr>
                                    </p:animEffect>
                                    <p:set>
                                      <p:cBhvr>
                                        <p:cTn id="30" dur="1" fill="hold">
                                          <p:stCondLst>
                                            <p:cond delay="499"/>
                                          </p:stCondLst>
                                        </p:cTn>
                                        <p:tgtEl>
                                          <p:spTgt spid="41"/>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9" grpId="0"/>
      <p:bldP spid="37" grpId="0"/>
      <p:bldP spid="37" grpId="1"/>
      <p:bldP spid="42" grpId="0"/>
      <p:bldP spid="46" grpId="0"/>
      <p:bldP spid="46" grpId="1"/>
      <p:bldP spid="2" grpId="0"/>
      <p:bldP spid="3" grpId="0"/>
      <p:bldP spid="4"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71CD0F-D3FE-4970-99A7-6E572234FEF5}"/>
              </a:ext>
            </a:extLst>
          </p:cNvPr>
          <p:cNvSpPr txBox="1"/>
          <p:nvPr/>
        </p:nvSpPr>
        <p:spPr>
          <a:xfrm>
            <a:off x="4599260" y="3075057"/>
            <a:ext cx="2993479" cy="646331"/>
          </a:xfrm>
          <a:prstGeom prst="rect">
            <a:avLst/>
          </a:prstGeom>
          <a:noFill/>
        </p:spPr>
        <p:txBody>
          <a:bodyPr wrap="square" rtlCol="0">
            <a:spAutoFit/>
          </a:bodyPr>
          <a:lstStyle/>
          <a:p>
            <a:r>
              <a:rPr lang="en-US" sz="3600" b="1" dirty="0">
                <a:solidFill>
                  <a:srgbClr val="B15928"/>
                </a:solidFill>
                <a:latin typeface="Arial" panose="020B0604020202020204" pitchFamily="34" charset="0"/>
                <a:cs typeface="Arial" panose="020B0604020202020204" pitchFamily="34" charset="0"/>
              </a:rPr>
              <a:t>prime music</a:t>
            </a:r>
            <a:endParaRPr lang="en-IN" sz="3600" b="1" dirty="0">
              <a:solidFill>
                <a:srgbClr val="B15928"/>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F1456BBD-BB2E-418B-AFE4-923EA992EAF4}"/>
              </a:ext>
            </a:extLst>
          </p:cNvPr>
          <p:cNvSpPr txBox="1"/>
          <p:nvPr/>
        </p:nvSpPr>
        <p:spPr>
          <a:xfrm>
            <a:off x="736847" y="1491451"/>
            <a:ext cx="4651899" cy="923330"/>
          </a:xfrm>
          <a:prstGeom prst="rect">
            <a:avLst/>
          </a:prstGeom>
          <a:noFill/>
        </p:spPr>
        <p:txBody>
          <a:bodyPr wrap="square" rtlCol="0">
            <a:spAutoFit/>
          </a:bodyPr>
          <a:lstStyle/>
          <a:p>
            <a:r>
              <a:rPr lang="en-US" dirty="0"/>
              <a:t>“Love it! I am very pleased with Prime Music. It's great to get an album free, along with lyrics. Actually, I love everything about Amazon!”</a:t>
            </a:r>
          </a:p>
        </p:txBody>
      </p:sp>
      <p:sp>
        <p:nvSpPr>
          <p:cNvPr id="5" name="TextBox 4">
            <a:extLst>
              <a:ext uri="{FF2B5EF4-FFF2-40B4-BE49-F238E27FC236}">
                <a16:creationId xmlns:a16="http://schemas.microsoft.com/office/drawing/2014/main" id="{5FB3CED7-4458-4A82-BFF1-5CCD6F4BF222}"/>
              </a:ext>
            </a:extLst>
          </p:cNvPr>
          <p:cNvSpPr txBox="1"/>
          <p:nvPr/>
        </p:nvSpPr>
        <p:spPr>
          <a:xfrm>
            <a:off x="7316680" y="1270989"/>
            <a:ext cx="4651899" cy="923330"/>
          </a:xfrm>
          <a:prstGeom prst="rect">
            <a:avLst/>
          </a:prstGeom>
          <a:noFill/>
        </p:spPr>
        <p:txBody>
          <a:bodyPr wrap="square" rtlCol="0">
            <a:spAutoFit/>
          </a:bodyPr>
          <a:lstStyle/>
          <a:p>
            <a:r>
              <a:rPr lang="en-US" dirty="0"/>
              <a:t>“I absolutely love prime music! Great playlists! Very impressed with Amazon. I recommend prime and prime music.”</a:t>
            </a:r>
          </a:p>
        </p:txBody>
      </p:sp>
      <p:sp>
        <p:nvSpPr>
          <p:cNvPr id="6" name="TextBox 5">
            <a:extLst>
              <a:ext uri="{FF2B5EF4-FFF2-40B4-BE49-F238E27FC236}">
                <a16:creationId xmlns:a16="http://schemas.microsoft.com/office/drawing/2014/main" id="{AE88DB3C-2ADD-4BCA-B2C5-546DACA97FF2}"/>
              </a:ext>
            </a:extLst>
          </p:cNvPr>
          <p:cNvSpPr txBox="1"/>
          <p:nvPr/>
        </p:nvSpPr>
        <p:spPr>
          <a:xfrm>
            <a:off x="7121370" y="4907372"/>
            <a:ext cx="4651899" cy="1200329"/>
          </a:xfrm>
          <a:prstGeom prst="rect">
            <a:avLst/>
          </a:prstGeom>
          <a:noFill/>
        </p:spPr>
        <p:txBody>
          <a:bodyPr wrap="square" rtlCol="0">
            <a:spAutoFit/>
          </a:bodyPr>
          <a:lstStyle/>
          <a:p>
            <a:r>
              <a:rPr lang="en-US" dirty="0"/>
              <a:t>“Prime Music is the best thing I am getting other than free shipping with my Prime memberships. The playlists are way better than </a:t>
            </a:r>
            <a:r>
              <a:rPr lang="en-US" dirty="0" err="1"/>
              <a:t>Iheart</a:t>
            </a:r>
            <a:r>
              <a:rPr lang="en-US" dirty="0"/>
              <a:t> or Pandora.”</a:t>
            </a:r>
          </a:p>
        </p:txBody>
      </p:sp>
      <p:sp>
        <p:nvSpPr>
          <p:cNvPr id="7" name="TextBox 6">
            <a:extLst>
              <a:ext uri="{FF2B5EF4-FFF2-40B4-BE49-F238E27FC236}">
                <a16:creationId xmlns:a16="http://schemas.microsoft.com/office/drawing/2014/main" id="{3530328D-04DB-4E24-993C-871B93C73886}"/>
              </a:ext>
            </a:extLst>
          </p:cNvPr>
          <p:cNvSpPr txBox="1"/>
          <p:nvPr/>
        </p:nvSpPr>
        <p:spPr>
          <a:xfrm>
            <a:off x="418731" y="5205621"/>
            <a:ext cx="4651899" cy="923330"/>
          </a:xfrm>
          <a:prstGeom prst="rect">
            <a:avLst/>
          </a:prstGeom>
          <a:noFill/>
        </p:spPr>
        <p:txBody>
          <a:bodyPr wrap="square" rtlCol="0">
            <a:spAutoFit/>
          </a:bodyPr>
          <a:lstStyle/>
          <a:p>
            <a:r>
              <a:rPr lang="en-US" dirty="0"/>
              <a:t>“I love my free Prime Music. There are so many playlists and other good stuff. I even found cool lists for studying. Thanks, Amazon!”</a:t>
            </a:r>
          </a:p>
        </p:txBody>
      </p:sp>
      <p:sp>
        <p:nvSpPr>
          <p:cNvPr id="8" name="TextBox 7">
            <a:extLst>
              <a:ext uri="{FF2B5EF4-FFF2-40B4-BE49-F238E27FC236}">
                <a16:creationId xmlns:a16="http://schemas.microsoft.com/office/drawing/2014/main" id="{EE682626-25C3-4D66-994B-7809A7CE91E2}"/>
              </a:ext>
            </a:extLst>
          </p:cNvPr>
          <p:cNvSpPr txBox="1"/>
          <p:nvPr/>
        </p:nvSpPr>
        <p:spPr>
          <a:xfrm>
            <a:off x="418731" y="3319229"/>
            <a:ext cx="4651899" cy="646331"/>
          </a:xfrm>
          <a:prstGeom prst="rect">
            <a:avLst/>
          </a:prstGeom>
          <a:noFill/>
        </p:spPr>
        <p:txBody>
          <a:bodyPr wrap="square" rtlCol="0">
            <a:spAutoFit/>
          </a:bodyPr>
          <a:lstStyle/>
          <a:p>
            <a:r>
              <a:rPr lang="en-US" dirty="0"/>
              <a:t>“All I can say is that Amazon Prime music rocks!!”</a:t>
            </a:r>
          </a:p>
        </p:txBody>
      </p:sp>
      <p:sp>
        <p:nvSpPr>
          <p:cNvPr id="9" name="TextBox 8">
            <a:extLst>
              <a:ext uri="{FF2B5EF4-FFF2-40B4-BE49-F238E27FC236}">
                <a16:creationId xmlns:a16="http://schemas.microsoft.com/office/drawing/2014/main" id="{6DE661C2-E08C-40CD-B068-AD277FEE67B3}"/>
              </a:ext>
            </a:extLst>
          </p:cNvPr>
          <p:cNvSpPr txBox="1"/>
          <p:nvPr/>
        </p:nvSpPr>
        <p:spPr>
          <a:xfrm>
            <a:off x="7449845" y="3152207"/>
            <a:ext cx="4651899" cy="369332"/>
          </a:xfrm>
          <a:prstGeom prst="rect">
            <a:avLst/>
          </a:prstGeom>
          <a:noFill/>
        </p:spPr>
        <p:txBody>
          <a:bodyPr wrap="square" rtlCol="0">
            <a:spAutoFit/>
          </a:bodyPr>
          <a:lstStyle/>
          <a:p>
            <a:r>
              <a:rPr lang="en-US" dirty="0"/>
              <a:t>“Absolutely amazing! Love Prime Music!”</a:t>
            </a:r>
          </a:p>
        </p:txBody>
      </p:sp>
      <p:sp>
        <p:nvSpPr>
          <p:cNvPr id="10" name="Rectangle 9">
            <a:extLst>
              <a:ext uri="{FF2B5EF4-FFF2-40B4-BE49-F238E27FC236}">
                <a16:creationId xmlns:a16="http://schemas.microsoft.com/office/drawing/2014/main" id="{184DD264-A8A5-4097-B4CF-A84315CCC6F5}"/>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
        <p:nvSpPr>
          <p:cNvPr id="3" name="Title 2">
            <a:extLst>
              <a:ext uri="{FF2B5EF4-FFF2-40B4-BE49-F238E27FC236}">
                <a16:creationId xmlns:a16="http://schemas.microsoft.com/office/drawing/2014/main" id="{3D5D9CC8-F44E-4031-AB33-BAA79490D8AF}"/>
              </a:ext>
            </a:extLst>
          </p:cNvPr>
          <p:cNvSpPr>
            <a:spLocks noGrp="1"/>
          </p:cNvSpPr>
          <p:nvPr>
            <p:ph type="title"/>
          </p:nvPr>
        </p:nvSpPr>
        <p:spPr/>
        <p:txBody>
          <a:bodyPr>
            <a:normAutofit/>
          </a:bodyPr>
          <a:lstStyle/>
          <a:p>
            <a:r>
              <a:rPr lang="en-US" sz="3600" dirty="0">
                <a:solidFill>
                  <a:schemeClr val="accent1">
                    <a:lumMod val="75000"/>
                  </a:schemeClr>
                </a:solidFill>
              </a:rPr>
              <a:t>…As consumers appreciate Prime Music</a:t>
            </a:r>
          </a:p>
        </p:txBody>
      </p:sp>
    </p:spTree>
    <p:extLst>
      <p:ext uri="{BB962C8B-B14F-4D97-AF65-F5344CB8AC3E}">
        <p14:creationId xmlns:p14="http://schemas.microsoft.com/office/powerpoint/2010/main" val="103184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7"/>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9"/>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E98135-1B7D-4322-8062-5B7D7D5B7867}"/>
              </a:ext>
            </a:extLst>
          </p:cNvPr>
          <p:cNvSpPr>
            <a:spLocks noGrp="1"/>
          </p:cNvSpPr>
          <p:nvPr>
            <p:ph type="title"/>
          </p:nvPr>
        </p:nvSpPr>
        <p:spPr/>
        <p:txBody>
          <a:bodyPr>
            <a:normAutofit/>
          </a:bodyPr>
          <a:lstStyle/>
          <a:p>
            <a:r>
              <a:rPr lang="en-US" sz="3600" dirty="0">
                <a:solidFill>
                  <a:schemeClr val="accent1">
                    <a:lumMod val="75000"/>
                  </a:schemeClr>
                </a:solidFill>
              </a:rPr>
              <a:t>Amazon scoring</a:t>
            </a:r>
          </a:p>
        </p:txBody>
      </p:sp>
      <p:pic>
        <p:nvPicPr>
          <p:cNvPr id="4" name="Content Placeholder 3" descr="cid:image003.png@01D4833C.CD826BE0">
            <a:extLst>
              <a:ext uri="{FF2B5EF4-FFF2-40B4-BE49-F238E27FC236}">
                <a16:creationId xmlns:a16="http://schemas.microsoft.com/office/drawing/2014/main" id="{CE837A28-42EA-458F-BC26-FF991ACDBD76}"/>
              </a:ext>
            </a:extLst>
          </p:cNvPr>
          <p:cNvPicPr>
            <a:picLocks noGrp="1"/>
          </p:cNvPicPr>
          <p:nvPr>
            <p:ph idx="1"/>
          </p:nvPr>
        </p:nvPicPr>
        <p:blipFill>
          <a:blip r:embed="rId3" r:link="rId4">
            <a:extLst>
              <a:ext uri="{28A0092B-C50C-407E-A947-70E740481C1C}">
                <a14:useLocalDpi xmlns:a14="http://schemas.microsoft.com/office/drawing/2010/main" val="0"/>
              </a:ext>
            </a:extLst>
          </a:blip>
          <a:stretch>
            <a:fillRect/>
          </a:stretch>
        </p:blipFill>
        <p:spPr bwMode="auto">
          <a:xfrm>
            <a:off x="2656995" y="1934080"/>
            <a:ext cx="6878010" cy="4134427"/>
          </a:xfrm>
          <a:prstGeom prst="rect">
            <a:avLst/>
          </a:prstGeom>
          <a:noFill/>
        </p:spPr>
      </p:pic>
      <p:sp>
        <p:nvSpPr>
          <p:cNvPr id="17" name="Rectangle 16">
            <a:extLst>
              <a:ext uri="{FF2B5EF4-FFF2-40B4-BE49-F238E27FC236}">
                <a16:creationId xmlns:a16="http://schemas.microsoft.com/office/drawing/2014/main" id="{27E7283E-C5D4-43E2-9250-2A22ABACDCBA}"/>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pic>
        <p:nvPicPr>
          <p:cNvPr id="3" name="Picture 2" descr="A picture containing object&#10;&#10;Description automatically generated">
            <a:extLst>
              <a:ext uri="{FF2B5EF4-FFF2-40B4-BE49-F238E27FC236}">
                <a16:creationId xmlns:a16="http://schemas.microsoft.com/office/drawing/2014/main" id="{A79F19BB-185B-4184-B2E2-E54CFF7FED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77877" y="3304713"/>
            <a:ext cx="2295149" cy="627889"/>
          </a:xfrm>
          <a:prstGeom prst="rect">
            <a:avLst/>
          </a:prstGeom>
        </p:spPr>
      </p:pic>
    </p:spTree>
    <p:extLst>
      <p:ext uri="{BB962C8B-B14F-4D97-AF65-F5344CB8AC3E}">
        <p14:creationId xmlns:p14="http://schemas.microsoft.com/office/powerpoint/2010/main" val="1925638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vert="horz" lIns="91440" tIns="45720" rIns="91440" bIns="45720" rtlCol="0">
            <a:normAutofit/>
          </a:bodyPr>
          <a:lstStyle/>
          <a:p>
            <a:r>
              <a:rPr lang="en-US" dirty="0">
                <a:solidFill>
                  <a:srgbClr val="000000"/>
                </a:solidFill>
              </a:rPr>
              <a:t>Some key events of 2015…</a:t>
            </a:r>
          </a:p>
        </p:txBody>
      </p:sp>
      <p:sp>
        <p:nvSpPr>
          <p:cNvPr id="3" name="Content Placeholder 2">
            <a:extLst>
              <a:ext uri="{FF2B5EF4-FFF2-40B4-BE49-F238E27FC236}">
                <a16:creationId xmlns:a16="http://schemas.microsoft.com/office/drawing/2014/main" id="{36998D0C-0C0B-4D1D-B1BE-EE593A3CFA61}"/>
              </a:ext>
            </a:extLst>
          </p:cNvPr>
          <p:cNvSpPr>
            <a:spLocks noGrp="1"/>
          </p:cNvSpPr>
          <p:nvPr>
            <p:ph idx="1"/>
          </p:nvPr>
        </p:nvSpPr>
        <p:spPr/>
        <p:txBody>
          <a:bodyPr/>
          <a:lstStyle/>
          <a:p>
            <a:r>
              <a:rPr lang="en-US" dirty="0"/>
              <a:t>NASA confirms the presence of water on Mars</a:t>
            </a:r>
          </a:p>
          <a:p>
            <a:r>
              <a:rPr lang="en-US" dirty="0"/>
              <a:t>Patriots won the Superbowl championship </a:t>
            </a:r>
          </a:p>
          <a:p>
            <a:r>
              <a:rPr lang="en-US" dirty="0"/>
              <a:t>Marijuana becomes legal in Washington DC</a:t>
            </a:r>
          </a:p>
        </p:txBody>
      </p:sp>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Aft>
                <a:spcPts val="600"/>
              </a:spcAft>
            </a:pPr>
            <a:r>
              <a:rPr lang="en-US" dirty="0"/>
              <a:t>Sentiment Analysis - Drexel University </a:t>
            </a:r>
            <a:endParaRPr lang="en-US"/>
          </a:p>
        </p:txBody>
      </p:sp>
    </p:spTree>
    <p:extLst>
      <p:ext uri="{BB962C8B-B14F-4D97-AF65-F5344CB8AC3E}">
        <p14:creationId xmlns:p14="http://schemas.microsoft.com/office/powerpoint/2010/main" val="54227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picture containing book, text&#10;&#10;Description automatically generated">
            <a:extLst>
              <a:ext uri="{FF2B5EF4-FFF2-40B4-BE49-F238E27FC236}">
                <a16:creationId xmlns:a16="http://schemas.microsoft.com/office/drawing/2014/main" id="{625A23EE-402B-47DF-90D3-7F6ED9E70C35}"/>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t="4207" b="23397"/>
          <a:stretch/>
        </p:blipFill>
        <p:spPr>
          <a:xfrm>
            <a:off x="5797543" y="10"/>
            <a:ext cx="6394152" cy="6857990"/>
          </a:xfrm>
          <a:prstGeom prst="rect">
            <a:avLst/>
          </a:prstGeom>
        </p:spPr>
      </p:pic>
      <p:pic>
        <p:nvPicPr>
          <p:cNvPr id="8" name="Picture 10">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a:xfrm>
            <a:off x="804998" y="798445"/>
            <a:ext cx="4803636" cy="1311664"/>
          </a:xfrm>
        </p:spPr>
        <p:txBody>
          <a:bodyPr vert="horz" lIns="91440" tIns="45720" rIns="91440" bIns="45720" rtlCol="0">
            <a:normAutofit/>
          </a:bodyPr>
          <a:lstStyle/>
          <a:p>
            <a:r>
              <a:rPr lang="en-US" dirty="0">
                <a:solidFill>
                  <a:srgbClr val="000000"/>
                </a:solidFill>
              </a:rPr>
              <a:t>Some more key events in 2015…</a:t>
            </a:r>
          </a:p>
        </p:txBody>
      </p:sp>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spcAft>
                <a:spcPts val="600"/>
              </a:spcAft>
            </a:pPr>
            <a:r>
              <a:rPr lang="en-US" dirty="0"/>
              <a:t>Sentiment Analysis - Drexel University </a:t>
            </a:r>
            <a:endParaRPr lang="en-US"/>
          </a:p>
        </p:txBody>
      </p:sp>
      <p:pic>
        <p:nvPicPr>
          <p:cNvPr id="9" name="Picture 8" descr="A picture containing table&#10;&#10;Description automatically generated">
            <a:extLst>
              <a:ext uri="{FF2B5EF4-FFF2-40B4-BE49-F238E27FC236}">
                <a16:creationId xmlns:a16="http://schemas.microsoft.com/office/drawing/2014/main" id="{C1B0CDD9-8C1C-4E04-B345-AE284DC84C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8824" y="2247761"/>
            <a:ext cx="6381750" cy="36671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393200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60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ntr" presetSubtype="0" fill="hold" nodeType="withEffect">
                                  <p:stCondLst>
                                    <p:cond delay="60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Mentions of AI related terms continue to increase significantly…</a:t>
            </a:r>
          </a:p>
        </p:txBody>
      </p:sp>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pic>
        <p:nvPicPr>
          <p:cNvPr id="6" name="Picture 5" descr="cid:image003.png@01D4833A.697D53F0">
            <a:extLst>
              <a:ext uri="{FF2B5EF4-FFF2-40B4-BE49-F238E27FC236}">
                <a16:creationId xmlns:a16="http://schemas.microsoft.com/office/drawing/2014/main" id="{9FCFF1F8-C428-4CF4-BDD5-B39E63CEF81F}"/>
              </a:ext>
            </a:extLst>
          </p:cNvPr>
          <p:cNvPicPr/>
          <p:nvPr/>
        </p:nvPicPr>
        <p:blipFill rotWithShape="1">
          <a:blip r:embed="rId3" r:link="rId4">
            <a:extLst>
              <a:ext uri="{28A0092B-C50C-407E-A947-70E740481C1C}">
                <a14:useLocalDpi xmlns:a14="http://schemas.microsoft.com/office/drawing/2010/main" val="0"/>
              </a:ext>
            </a:extLst>
          </a:blip>
          <a:srcRect t="8873"/>
          <a:stretch>
            <a:fillRect/>
          </a:stretch>
        </p:blipFill>
        <p:spPr bwMode="auto">
          <a:xfrm>
            <a:off x="2657856" y="1545812"/>
            <a:ext cx="6876288" cy="3766376"/>
          </a:xfrm>
          <a:prstGeom prst="rect">
            <a:avLst/>
          </a:prstGeom>
          <a:noFill/>
          <a:ln>
            <a:noFill/>
          </a:ln>
        </p:spPr>
      </p:pic>
    </p:spTree>
    <p:extLst>
      <p:ext uri="{BB962C8B-B14F-4D97-AF65-F5344CB8AC3E}">
        <p14:creationId xmlns:p14="http://schemas.microsoft.com/office/powerpoint/2010/main" val="1884323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E2D-E61C-452B-9AFE-568F152F35B0}"/>
              </a:ext>
            </a:extLst>
          </p:cNvPr>
          <p:cNvSpPr>
            <a:spLocks noGrp="1"/>
          </p:cNvSpPr>
          <p:nvPr>
            <p:ph type="title"/>
          </p:nvPr>
        </p:nvSpPr>
        <p:spPr/>
        <p:txBody>
          <a:bodyPr>
            <a:normAutofit/>
          </a:bodyPr>
          <a:lstStyle/>
          <a:p>
            <a:r>
              <a:rPr lang="en-IN" sz="3600" dirty="0">
                <a:solidFill>
                  <a:schemeClr val="accent1">
                    <a:lumMod val="75000"/>
                  </a:schemeClr>
                </a:solidFill>
              </a:rPr>
              <a:t>…With AI topping the charts</a:t>
            </a:r>
            <a:endParaRPr lang="en-US" sz="3600" dirty="0">
              <a:solidFill>
                <a:schemeClr val="accent1">
                  <a:lumMod val="75000"/>
                </a:schemeClr>
              </a:solidFill>
            </a:endParaRPr>
          </a:p>
        </p:txBody>
      </p:sp>
      <p:pic>
        <p:nvPicPr>
          <p:cNvPr id="19" name="Content Placeholder 18">
            <a:extLst>
              <a:ext uri="{FF2B5EF4-FFF2-40B4-BE49-F238E27FC236}">
                <a16:creationId xmlns:a16="http://schemas.microsoft.com/office/drawing/2014/main" id="{2C5DA7CC-DF10-4587-A225-BF45E4A314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2478" y="1825625"/>
            <a:ext cx="6587044" cy="4351338"/>
          </a:xfrm>
          <a:prstGeom prst="rect">
            <a:avLst/>
          </a:prstGeom>
        </p:spPr>
      </p:pic>
      <p:sp>
        <p:nvSpPr>
          <p:cNvPr id="4" name="Rectangle 3">
            <a:extLst>
              <a:ext uri="{FF2B5EF4-FFF2-40B4-BE49-F238E27FC236}">
                <a16:creationId xmlns:a16="http://schemas.microsoft.com/office/drawing/2014/main" id="{8ED02065-3B10-45BC-9064-7F468FACFD5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19187835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image002">
            <a:extLst>
              <a:ext uri="{FF2B5EF4-FFF2-40B4-BE49-F238E27FC236}">
                <a16:creationId xmlns:a16="http://schemas.microsoft.com/office/drawing/2014/main" id="{5DA13AA0-C23E-4ACC-B835-6DB32B0F7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290" y="1502982"/>
            <a:ext cx="8357420" cy="455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7D36385E-4E08-4C3F-AB34-3E3424005C34}"/>
              </a:ext>
            </a:extLst>
          </p:cNvPr>
          <p:cNvSpPr txBox="1"/>
          <p:nvPr/>
        </p:nvSpPr>
        <p:spPr>
          <a:xfrm>
            <a:off x="7547211" y="2711895"/>
            <a:ext cx="4312693" cy="2142125"/>
          </a:xfrm>
          <a:prstGeom prst="rect">
            <a:avLst/>
          </a:prstGeom>
          <a:noFill/>
        </p:spPr>
        <p:txBody>
          <a:bodyPr wrap="square" rtlCol="0">
            <a:spAutoFit/>
          </a:bodyPr>
          <a:lstStyle/>
          <a:p>
            <a:pPr>
              <a:lnSpc>
                <a:spcPct val="160000"/>
              </a:lnSpc>
            </a:pPr>
            <a:r>
              <a:rPr lang="en-US" dirty="0"/>
              <a:t>“Pandora is wonderful. Really works well on the Amazon Echo.” </a:t>
            </a:r>
          </a:p>
          <a:p>
            <a:pPr>
              <a:lnSpc>
                <a:spcPct val="160000"/>
              </a:lnSpc>
            </a:pPr>
            <a:endParaRPr lang="en-US" dirty="0"/>
          </a:p>
          <a:p>
            <a:pPr>
              <a:lnSpc>
                <a:spcPct val="160000"/>
              </a:lnSpc>
            </a:pPr>
            <a:r>
              <a:rPr lang="en-US" dirty="0"/>
              <a:t>“linked to my Alexa and it's great!” </a:t>
            </a:r>
          </a:p>
          <a:p>
            <a:endParaRPr lang="en-IN" dirty="0"/>
          </a:p>
        </p:txBody>
      </p:sp>
      <p:sp>
        <p:nvSpPr>
          <p:cNvPr id="5" name="Rectangle 4">
            <a:extLst>
              <a:ext uri="{FF2B5EF4-FFF2-40B4-BE49-F238E27FC236}">
                <a16:creationId xmlns:a16="http://schemas.microsoft.com/office/drawing/2014/main" id="{01CA1F80-2AFE-42AB-9017-E7F01478C156}"/>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
        <p:nvSpPr>
          <p:cNvPr id="4" name="Title 3">
            <a:extLst>
              <a:ext uri="{FF2B5EF4-FFF2-40B4-BE49-F238E27FC236}">
                <a16:creationId xmlns:a16="http://schemas.microsoft.com/office/drawing/2014/main" id="{8EFD877C-2F10-4D6F-8D6D-3C4178D87AE6}"/>
              </a:ext>
            </a:extLst>
          </p:cNvPr>
          <p:cNvSpPr>
            <a:spLocks noGrp="1"/>
          </p:cNvSpPr>
          <p:nvPr>
            <p:ph type="title"/>
          </p:nvPr>
        </p:nvSpPr>
        <p:spPr/>
        <p:txBody>
          <a:bodyPr>
            <a:normAutofit/>
          </a:bodyPr>
          <a:lstStyle/>
          <a:p>
            <a:r>
              <a:rPr lang="en-IN" sz="3600" dirty="0">
                <a:solidFill>
                  <a:schemeClr val="accent1">
                    <a:lumMod val="75000"/>
                  </a:schemeClr>
                </a:solidFill>
              </a:rPr>
              <a:t>Pandora realizes AI being the need of an hour…</a:t>
            </a:r>
            <a:endParaRPr lang="en-US" sz="3600" dirty="0">
              <a:solidFill>
                <a:schemeClr val="accent1">
                  <a:lumMod val="75000"/>
                </a:schemeClr>
              </a:solidFill>
            </a:endParaRPr>
          </a:p>
        </p:txBody>
      </p:sp>
    </p:spTree>
    <p:extLst>
      <p:ext uri="{BB962C8B-B14F-4D97-AF65-F5344CB8AC3E}">
        <p14:creationId xmlns:p14="http://schemas.microsoft.com/office/powerpoint/2010/main" val="215094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3" descr="image003">
            <a:extLst>
              <a:ext uri="{FF2B5EF4-FFF2-40B4-BE49-F238E27FC236}">
                <a16:creationId xmlns:a16="http://schemas.microsoft.com/office/drawing/2014/main" id="{080B8AAD-28F0-46FC-ABF8-5370182FA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1370" y="1540431"/>
            <a:ext cx="8359706" cy="456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11028F5A-FD15-4A2F-A1D9-9A3550EA7C21}"/>
              </a:ext>
            </a:extLst>
          </p:cNvPr>
          <p:cNvSpPr txBox="1"/>
          <p:nvPr/>
        </p:nvSpPr>
        <p:spPr>
          <a:xfrm>
            <a:off x="7461836" y="2528369"/>
            <a:ext cx="4439017" cy="2585323"/>
          </a:xfrm>
          <a:prstGeom prst="rect">
            <a:avLst/>
          </a:prstGeom>
          <a:noFill/>
        </p:spPr>
        <p:txBody>
          <a:bodyPr wrap="square" rtlCol="0">
            <a:spAutoFit/>
          </a:bodyPr>
          <a:lstStyle/>
          <a:p>
            <a:pPr>
              <a:lnSpc>
                <a:spcPct val="160000"/>
              </a:lnSpc>
            </a:pPr>
            <a:r>
              <a:rPr lang="en-US" dirty="0"/>
              <a:t>“Spotify + Amazon Echo = frictionless musical bliss.” </a:t>
            </a:r>
          </a:p>
          <a:p>
            <a:pPr>
              <a:lnSpc>
                <a:spcPct val="160000"/>
              </a:lnSpc>
            </a:pPr>
            <a:endParaRPr lang="en-US" dirty="0"/>
          </a:p>
          <a:p>
            <a:pPr>
              <a:lnSpc>
                <a:spcPct val="160000"/>
              </a:lnSpc>
            </a:pPr>
            <a:r>
              <a:rPr lang="en-US" dirty="0"/>
              <a:t>“I love being able to play Spotify through Alexa! I just tell her what I want to hear.”</a:t>
            </a:r>
          </a:p>
          <a:p>
            <a:endParaRPr lang="en-IN" dirty="0"/>
          </a:p>
        </p:txBody>
      </p:sp>
      <p:sp>
        <p:nvSpPr>
          <p:cNvPr id="5" name="Rectangle 4">
            <a:extLst>
              <a:ext uri="{FF2B5EF4-FFF2-40B4-BE49-F238E27FC236}">
                <a16:creationId xmlns:a16="http://schemas.microsoft.com/office/drawing/2014/main" id="{EDC8E08E-A83E-43F1-8B32-B00B65C5C6F4}"/>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
        <p:nvSpPr>
          <p:cNvPr id="3" name="Title 2">
            <a:extLst>
              <a:ext uri="{FF2B5EF4-FFF2-40B4-BE49-F238E27FC236}">
                <a16:creationId xmlns:a16="http://schemas.microsoft.com/office/drawing/2014/main" id="{304456A2-BDB6-412C-98F7-613DF167B035}"/>
              </a:ext>
            </a:extLst>
          </p:cNvPr>
          <p:cNvSpPr>
            <a:spLocks noGrp="1"/>
          </p:cNvSpPr>
          <p:nvPr>
            <p:ph type="title"/>
          </p:nvPr>
        </p:nvSpPr>
        <p:spPr/>
        <p:txBody>
          <a:bodyPr>
            <a:normAutofit/>
          </a:bodyPr>
          <a:lstStyle/>
          <a:p>
            <a:r>
              <a:rPr lang="en-IN" sz="3600" dirty="0">
                <a:solidFill>
                  <a:schemeClr val="accent1">
                    <a:lumMod val="75000"/>
                  </a:schemeClr>
                </a:solidFill>
              </a:rPr>
              <a:t>…And Spotify follows the suit</a:t>
            </a:r>
            <a:endParaRPr lang="en-US" sz="3600" dirty="0">
              <a:solidFill>
                <a:schemeClr val="accent1">
                  <a:lumMod val="75000"/>
                </a:schemeClr>
              </a:solidFill>
            </a:endParaRPr>
          </a:p>
        </p:txBody>
      </p:sp>
    </p:spTree>
    <p:extLst>
      <p:ext uri="{BB962C8B-B14F-4D97-AF65-F5344CB8AC3E}">
        <p14:creationId xmlns:p14="http://schemas.microsoft.com/office/powerpoint/2010/main" val="3687630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3">
            <a:extLst>
              <a:ext uri="{FF2B5EF4-FFF2-40B4-BE49-F238E27FC236}">
                <a16:creationId xmlns:a16="http://schemas.microsoft.com/office/drawing/2014/main" id="{EECE9503-A5B4-499C-9C58-125FFF35D2D3}"/>
              </a:ext>
            </a:extLst>
          </p:cNvPr>
          <p:cNvPicPr>
            <a:picLocks noChangeAspect="1"/>
          </p:cNvPicPr>
          <p:nvPr/>
        </p:nvPicPr>
        <p:blipFill>
          <a:blip r:embed="rId2"/>
          <a:stretch>
            <a:fillRect/>
          </a:stretch>
        </p:blipFill>
        <p:spPr>
          <a:xfrm>
            <a:off x="1117292" y="4723054"/>
            <a:ext cx="10515600" cy="1540692"/>
          </a:xfrm>
          <a:prstGeom prst="rect">
            <a:avLst/>
          </a:prstGeom>
          <a:ln>
            <a:solidFill>
              <a:srgbClr val="4472C4"/>
            </a:solidFill>
          </a:ln>
        </p:spPr>
      </p:pic>
      <p:pic>
        <p:nvPicPr>
          <p:cNvPr id="8" name="Picture 7">
            <a:extLst>
              <a:ext uri="{FF2B5EF4-FFF2-40B4-BE49-F238E27FC236}">
                <a16:creationId xmlns:a16="http://schemas.microsoft.com/office/drawing/2014/main" id="{99CA7628-9ED8-4D1F-8D21-9CC147473007}"/>
              </a:ext>
            </a:extLst>
          </p:cNvPr>
          <p:cNvPicPr>
            <a:picLocks noChangeAspect="1"/>
          </p:cNvPicPr>
          <p:nvPr/>
        </p:nvPicPr>
        <p:blipFill>
          <a:blip r:embed="rId3"/>
          <a:stretch>
            <a:fillRect/>
          </a:stretch>
        </p:blipFill>
        <p:spPr>
          <a:xfrm>
            <a:off x="1713391" y="1401864"/>
            <a:ext cx="8458608" cy="1544032"/>
          </a:xfrm>
          <a:prstGeom prst="rect">
            <a:avLst/>
          </a:prstGeom>
          <a:ln>
            <a:solidFill>
              <a:srgbClr val="4472C4"/>
            </a:solidFill>
          </a:ln>
        </p:spPr>
      </p:pic>
      <p:pic>
        <p:nvPicPr>
          <p:cNvPr id="11" name="Picture 10">
            <a:extLst>
              <a:ext uri="{FF2B5EF4-FFF2-40B4-BE49-F238E27FC236}">
                <a16:creationId xmlns:a16="http://schemas.microsoft.com/office/drawing/2014/main" id="{5407221C-CC19-437D-B232-540D3D2D436A}"/>
              </a:ext>
            </a:extLst>
          </p:cNvPr>
          <p:cNvPicPr>
            <a:picLocks noChangeAspect="1"/>
          </p:cNvPicPr>
          <p:nvPr/>
        </p:nvPicPr>
        <p:blipFill>
          <a:blip r:embed="rId4"/>
          <a:stretch>
            <a:fillRect/>
          </a:stretch>
        </p:blipFill>
        <p:spPr>
          <a:xfrm>
            <a:off x="1468515" y="3019136"/>
            <a:ext cx="9358266" cy="1557438"/>
          </a:xfrm>
          <a:prstGeom prst="rect">
            <a:avLst/>
          </a:prstGeom>
          <a:ln>
            <a:solidFill>
              <a:srgbClr val="4472C4"/>
            </a:solidFill>
          </a:ln>
        </p:spPr>
      </p:pic>
      <p:sp>
        <p:nvSpPr>
          <p:cNvPr id="9" name="Rectangle 8">
            <a:extLst>
              <a:ext uri="{FF2B5EF4-FFF2-40B4-BE49-F238E27FC236}">
                <a16:creationId xmlns:a16="http://schemas.microsoft.com/office/drawing/2014/main" id="{F405202A-0D30-4BAA-B97A-E5F936FA9065}"/>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
        <p:nvSpPr>
          <p:cNvPr id="10" name="Title 9">
            <a:extLst>
              <a:ext uri="{FF2B5EF4-FFF2-40B4-BE49-F238E27FC236}">
                <a16:creationId xmlns:a16="http://schemas.microsoft.com/office/drawing/2014/main" id="{BF6D53DA-56B1-483A-8C36-124BE06B9EFF}"/>
              </a:ext>
            </a:extLst>
          </p:cNvPr>
          <p:cNvSpPr>
            <a:spLocks noGrp="1"/>
          </p:cNvSpPr>
          <p:nvPr>
            <p:ph type="title"/>
          </p:nvPr>
        </p:nvSpPr>
        <p:spPr/>
        <p:txBody>
          <a:bodyPr>
            <a:normAutofit/>
          </a:bodyPr>
          <a:lstStyle/>
          <a:p>
            <a:r>
              <a:rPr lang="en-US" sz="3600" dirty="0">
                <a:solidFill>
                  <a:schemeClr val="accent1">
                    <a:lumMod val="75000"/>
                  </a:schemeClr>
                </a:solidFill>
              </a:rPr>
              <a:t>The demand for AI is increasing every minute</a:t>
            </a:r>
          </a:p>
        </p:txBody>
      </p:sp>
    </p:spTree>
    <p:extLst>
      <p:ext uri="{BB962C8B-B14F-4D97-AF65-F5344CB8AC3E}">
        <p14:creationId xmlns:p14="http://schemas.microsoft.com/office/powerpoint/2010/main" val="326663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800"/>
                                  </p:stCondLst>
                                  <p:childTnLst>
                                    <p:set>
                                      <p:cBhvr>
                                        <p:cTn id="9" dur="1" fill="hold">
                                          <p:stCondLst>
                                            <p:cond delay="0"/>
                                          </p:stCondLst>
                                        </p:cTn>
                                        <p:tgtEl>
                                          <p:spTgt spid="11"/>
                                        </p:tgtEl>
                                        <p:attrNameLst>
                                          <p:attrName>style.visibility</p:attrName>
                                        </p:attrNameLst>
                                      </p:cBhvr>
                                      <p:to>
                                        <p:strVal val="visible"/>
                                      </p:to>
                                    </p:set>
                                  </p:childTnLst>
                                </p:cTn>
                              </p:par>
                            </p:childTnLst>
                          </p:cTn>
                        </p:par>
                        <p:par>
                          <p:cTn id="10" fill="hold">
                            <p:stCondLst>
                              <p:cond delay="800"/>
                            </p:stCondLst>
                            <p:childTnLst>
                              <p:par>
                                <p:cTn id="11" presetID="1" presetClass="entr" presetSubtype="0" fill="hold" nodeType="afterEffect">
                                  <p:stCondLst>
                                    <p:cond delay="70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Agenda</a:t>
            </a:r>
          </a:p>
        </p:txBody>
      </p:sp>
      <p:graphicFrame>
        <p:nvGraphicFramePr>
          <p:cNvPr id="6" name="Content Placeholder 5">
            <a:extLst>
              <a:ext uri="{FF2B5EF4-FFF2-40B4-BE49-F238E27FC236}">
                <a16:creationId xmlns:a16="http://schemas.microsoft.com/office/drawing/2014/main" id="{670F6614-93C7-4616-A10E-837B8C1CFB1B}"/>
              </a:ext>
            </a:extLst>
          </p:cNvPr>
          <p:cNvGraphicFramePr>
            <a:graphicFrameLocks noGrp="1"/>
          </p:cNvGraphicFramePr>
          <p:nvPr>
            <p:ph idx="1"/>
            <p:extLst>
              <p:ext uri="{D42A27DB-BD31-4B8C-83A1-F6EECF244321}">
                <p14:modId xmlns:p14="http://schemas.microsoft.com/office/powerpoint/2010/main" val="529088566"/>
              </p:ext>
            </p:extLst>
          </p:nvPr>
        </p:nvGraphicFramePr>
        <p:xfrm>
          <a:off x="3341333" y="2316480"/>
          <a:ext cx="5509334" cy="2225040"/>
        </p:xfrm>
        <a:graphic>
          <a:graphicData uri="http://schemas.openxmlformats.org/drawingml/2006/table">
            <a:tbl>
              <a:tblPr firstRow="1" bandRow="1">
                <a:tableStyleId>{5C22544A-7EE6-4342-B048-85BDC9FD1C3A}</a:tableStyleId>
              </a:tblPr>
              <a:tblGrid>
                <a:gridCol w="5509334">
                  <a:extLst>
                    <a:ext uri="{9D8B030D-6E8A-4147-A177-3AD203B41FA5}">
                      <a16:colId xmlns:a16="http://schemas.microsoft.com/office/drawing/2014/main" val="1248665054"/>
                    </a:ext>
                  </a:extLst>
                </a:gridCol>
              </a:tblGrid>
              <a:tr h="370840">
                <a:tc>
                  <a:txBody>
                    <a:bodyPr/>
                    <a:lstStyle/>
                    <a:p>
                      <a:pPr algn="ctr"/>
                      <a:r>
                        <a:rPr lang="en-US" sz="1800" b="0" kern="1200" dirty="0">
                          <a:solidFill>
                            <a:schemeClr val="dk1"/>
                          </a:solidFill>
                          <a:latin typeface="+mn-lt"/>
                          <a:ea typeface="+mn-ea"/>
                          <a:cs typeface="+mn-cs"/>
                        </a:rPr>
                        <a:t>Motivation</a:t>
                      </a:r>
                    </a:p>
                  </a:txBody>
                  <a:tcPr anchor="b">
                    <a:solidFill>
                      <a:schemeClr val="accent1">
                        <a:lumMod val="40000"/>
                        <a:lumOff val="60000"/>
                      </a:schemeClr>
                    </a:solidFill>
                  </a:tcPr>
                </a:tc>
                <a:extLst>
                  <a:ext uri="{0D108BD9-81ED-4DB2-BD59-A6C34878D82A}">
                    <a16:rowId xmlns:a16="http://schemas.microsoft.com/office/drawing/2014/main" val="404223706"/>
                  </a:ext>
                </a:extLst>
              </a:tr>
              <a:tr h="370840">
                <a:tc>
                  <a:txBody>
                    <a:bodyPr/>
                    <a:lstStyle/>
                    <a:p>
                      <a:pPr algn="ctr"/>
                      <a:r>
                        <a:rPr lang="en-US" dirty="0"/>
                        <a:t>Business Question</a:t>
                      </a:r>
                    </a:p>
                  </a:txBody>
                  <a:tcPr anchor="b">
                    <a:solidFill>
                      <a:srgbClr val="B4C7E7"/>
                    </a:solidFill>
                  </a:tcPr>
                </a:tc>
                <a:extLst>
                  <a:ext uri="{0D108BD9-81ED-4DB2-BD59-A6C34878D82A}">
                    <a16:rowId xmlns:a16="http://schemas.microsoft.com/office/drawing/2014/main" val="355538206"/>
                  </a:ext>
                </a:extLst>
              </a:tr>
              <a:tr h="370840">
                <a:tc>
                  <a:txBody>
                    <a:bodyPr/>
                    <a:lstStyle/>
                    <a:p>
                      <a:pPr algn="ctr"/>
                      <a:r>
                        <a:rPr lang="en-US" dirty="0"/>
                        <a:t>Methodology</a:t>
                      </a:r>
                    </a:p>
                  </a:txBody>
                  <a:tcPr anchor="b">
                    <a:solidFill>
                      <a:srgbClr val="B4C7E7"/>
                    </a:solidFill>
                  </a:tcPr>
                </a:tc>
                <a:extLst>
                  <a:ext uri="{0D108BD9-81ED-4DB2-BD59-A6C34878D82A}">
                    <a16:rowId xmlns:a16="http://schemas.microsoft.com/office/drawing/2014/main" val="1448365020"/>
                  </a:ext>
                </a:extLst>
              </a:tr>
              <a:tr h="370840">
                <a:tc>
                  <a:txBody>
                    <a:bodyPr/>
                    <a:lstStyle/>
                    <a:p>
                      <a:pPr marL="0" algn="ctr" defTabSz="914400" rtl="0" eaLnBrk="1" latinLnBrk="0" hangingPunct="1"/>
                      <a:r>
                        <a:rPr lang="en-US" sz="1800" kern="1200" dirty="0">
                          <a:solidFill>
                            <a:schemeClr val="dk1"/>
                          </a:solidFill>
                          <a:latin typeface="+mn-lt"/>
                          <a:ea typeface="+mn-ea"/>
                          <a:cs typeface="+mn-cs"/>
                        </a:rPr>
                        <a:t>Analysis</a:t>
                      </a:r>
                    </a:p>
                  </a:txBody>
                  <a:tcPr anchor="b">
                    <a:solidFill>
                      <a:srgbClr val="B4C7E7"/>
                    </a:solidFill>
                  </a:tcPr>
                </a:tc>
                <a:extLst>
                  <a:ext uri="{0D108BD9-81ED-4DB2-BD59-A6C34878D82A}">
                    <a16:rowId xmlns:a16="http://schemas.microsoft.com/office/drawing/2014/main" val="2826135216"/>
                  </a:ext>
                </a:extLst>
              </a:tr>
              <a:tr h="370840">
                <a:tc>
                  <a:txBody>
                    <a:bodyPr/>
                    <a:lstStyle/>
                    <a:p>
                      <a:pPr marL="0" algn="ctr" defTabSz="914400" rtl="0" eaLnBrk="1" latinLnBrk="0" hangingPunct="1"/>
                      <a:r>
                        <a:rPr lang="en-US" sz="1800" b="1" kern="1200" dirty="0">
                          <a:solidFill>
                            <a:schemeClr val="bg1"/>
                          </a:solidFill>
                          <a:latin typeface="+mn-lt"/>
                          <a:ea typeface="+mn-ea"/>
                          <a:cs typeface="+mn-cs"/>
                        </a:rPr>
                        <a:t>Key Takeaways</a:t>
                      </a:r>
                    </a:p>
                  </a:txBody>
                  <a:tcPr anchor="b">
                    <a:solidFill>
                      <a:srgbClr val="4472C4"/>
                    </a:solidFill>
                  </a:tcPr>
                </a:tc>
                <a:extLst>
                  <a:ext uri="{0D108BD9-81ED-4DB2-BD59-A6C34878D82A}">
                    <a16:rowId xmlns:a16="http://schemas.microsoft.com/office/drawing/2014/main" val="3909173956"/>
                  </a:ext>
                </a:extLst>
              </a:tr>
              <a:tr h="370840">
                <a:tc>
                  <a:txBody>
                    <a:bodyPr/>
                    <a:lstStyle/>
                    <a:p>
                      <a:pPr algn="ctr"/>
                      <a:r>
                        <a:rPr lang="en-US" dirty="0"/>
                        <a:t>Appendix</a:t>
                      </a:r>
                    </a:p>
                  </a:txBody>
                  <a:tcPr anchor="b">
                    <a:solidFill>
                      <a:schemeClr val="accent1">
                        <a:lumMod val="40000"/>
                        <a:lumOff val="60000"/>
                      </a:schemeClr>
                    </a:solidFill>
                  </a:tcPr>
                </a:tc>
                <a:extLst>
                  <a:ext uri="{0D108BD9-81ED-4DB2-BD59-A6C34878D82A}">
                    <a16:rowId xmlns:a16="http://schemas.microsoft.com/office/drawing/2014/main" val="3631025880"/>
                  </a:ext>
                </a:extLst>
              </a:tr>
            </a:tbl>
          </a:graphicData>
        </a:graphic>
      </p:graphicFrame>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2770008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What is the impact of AI on Music Industry?</a:t>
            </a:r>
          </a:p>
        </p:txBody>
      </p:sp>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
        <p:nvSpPr>
          <p:cNvPr id="5" name="Content Placeholder 4">
            <a:extLst>
              <a:ext uri="{FF2B5EF4-FFF2-40B4-BE49-F238E27FC236}">
                <a16:creationId xmlns:a16="http://schemas.microsoft.com/office/drawing/2014/main" id="{2914CFB9-21C4-4300-8CB5-19ECC523E8CC}"/>
              </a:ext>
            </a:extLst>
          </p:cNvPr>
          <p:cNvSpPr>
            <a:spLocks noGrp="1"/>
          </p:cNvSpPr>
          <p:nvPr>
            <p:ph idx="1"/>
          </p:nvPr>
        </p:nvSpPr>
        <p:spPr/>
        <p:txBody>
          <a:bodyPr/>
          <a:lstStyle/>
          <a:p>
            <a:r>
              <a:rPr lang="en-US" dirty="0"/>
              <a:t>Personalizes experience – mood detection </a:t>
            </a:r>
          </a:p>
          <a:p>
            <a:r>
              <a:rPr lang="en-US" dirty="0"/>
              <a:t>Users get exposed to a plethora or artists and genres </a:t>
            </a:r>
          </a:p>
          <a:p>
            <a:r>
              <a:rPr lang="en-US" dirty="0"/>
              <a:t>Lesser known artists get recognition</a:t>
            </a:r>
          </a:p>
          <a:p>
            <a:r>
              <a:rPr lang="en-US" dirty="0"/>
              <a:t>Broader demographic - need of mobile phones eliminated</a:t>
            </a:r>
          </a:p>
          <a:p>
            <a:r>
              <a:rPr lang="en-US" dirty="0"/>
              <a:t>Willingness to pay a premium price</a:t>
            </a:r>
          </a:p>
          <a:p>
            <a:r>
              <a:rPr lang="en-US" dirty="0"/>
              <a:t>A dip in piracy</a:t>
            </a:r>
          </a:p>
        </p:txBody>
      </p:sp>
    </p:spTree>
    <p:extLst>
      <p:ext uri="{BB962C8B-B14F-4D97-AF65-F5344CB8AC3E}">
        <p14:creationId xmlns:p14="http://schemas.microsoft.com/office/powerpoint/2010/main" val="3061319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D2D04F-70F6-42D5-9483-25A73A6B153E}"/>
              </a:ext>
            </a:extLst>
          </p:cNvPr>
          <p:cNvSpPr>
            <a:spLocks noGrp="1"/>
          </p:cNvSpPr>
          <p:nvPr>
            <p:ph idx="1"/>
          </p:nvPr>
        </p:nvSpPr>
        <p:spPr>
          <a:xfrm>
            <a:off x="4069302" y="781229"/>
            <a:ext cx="4053396" cy="1273712"/>
          </a:xfrm>
        </p:spPr>
        <p:txBody>
          <a:bodyPr>
            <a:normAutofit/>
          </a:bodyPr>
          <a:lstStyle/>
          <a:p>
            <a:pPr marL="0" indent="0" algn="ctr">
              <a:buNone/>
            </a:pPr>
            <a:r>
              <a:rPr lang="en-US" sz="5400" dirty="0"/>
              <a:t>Thank You</a:t>
            </a:r>
          </a:p>
        </p:txBody>
      </p:sp>
      <p:sp>
        <p:nvSpPr>
          <p:cNvPr id="4" name="Rectangle 3">
            <a:extLst>
              <a:ext uri="{FF2B5EF4-FFF2-40B4-BE49-F238E27FC236}">
                <a16:creationId xmlns:a16="http://schemas.microsoft.com/office/drawing/2014/main" id="{244C17DA-DFD3-4009-953A-BD6FE9B42128}"/>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t>Sentiment Analysis - Drexel University </a:t>
            </a:r>
            <a:endParaRPr lang="en-US" dirty="0"/>
          </a:p>
        </p:txBody>
      </p:sp>
      <p:pic>
        <p:nvPicPr>
          <p:cNvPr id="5" name="Picture 4" descr="A close up of a logo&#10;&#10;Description automatically generated">
            <a:extLst>
              <a:ext uri="{FF2B5EF4-FFF2-40B4-BE49-F238E27FC236}">
                <a16:creationId xmlns:a16="http://schemas.microsoft.com/office/drawing/2014/main" id="{DBE355D8-C7FE-4D36-B5AF-31C17995B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0375" y="2266771"/>
            <a:ext cx="5715000" cy="3810000"/>
          </a:xfrm>
          <a:prstGeom prst="rect">
            <a:avLst/>
          </a:prstGeom>
        </p:spPr>
      </p:pic>
    </p:spTree>
    <p:extLst>
      <p:ext uri="{BB962C8B-B14F-4D97-AF65-F5344CB8AC3E}">
        <p14:creationId xmlns:p14="http://schemas.microsoft.com/office/powerpoint/2010/main" val="3334311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4AFF1-631A-4FDA-AC1C-19983559B0C6}"/>
              </a:ext>
            </a:extLst>
          </p:cNvPr>
          <p:cNvSpPr>
            <a:spLocks noGrp="1"/>
          </p:cNvSpPr>
          <p:nvPr>
            <p:ph type="title"/>
          </p:nvPr>
        </p:nvSpPr>
        <p:spPr/>
        <p:txBody>
          <a:bodyPr>
            <a:normAutofit/>
          </a:bodyPr>
          <a:lstStyle/>
          <a:p>
            <a:r>
              <a:rPr lang="en-US" sz="3600" dirty="0">
                <a:solidFill>
                  <a:schemeClr val="accent1">
                    <a:lumMod val="75000"/>
                  </a:schemeClr>
                </a:solidFill>
              </a:rPr>
              <a:t>Agenda</a:t>
            </a:r>
          </a:p>
        </p:txBody>
      </p:sp>
      <p:graphicFrame>
        <p:nvGraphicFramePr>
          <p:cNvPr id="6" name="Content Placeholder 5">
            <a:extLst>
              <a:ext uri="{FF2B5EF4-FFF2-40B4-BE49-F238E27FC236}">
                <a16:creationId xmlns:a16="http://schemas.microsoft.com/office/drawing/2014/main" id="{670F6614-93C7-4616-A10E-837B8C1CFB1B}"/>
              </a:ext>
            </a:extLst>
          </p:cNvPr>
          <p:cNvGraphicFramePr>
            <a:graphicFrameLocks noGrp="1"/>
          </p:cNvGraphicFramePr>
          <p:nvPr>
            <p:ph idx="1"/>
            <p:extLst>
              <p:ext uri="{D42A27DB-BD31-4B8C-83A1-F6EECF244321}">
                <p14:modId xmlns:p14="http://schemas.microsoft.com/office/powerpoint/2010/main" val="1100364130"/>
              </p:ext>
            </p:extLst>
          </p:nvPr>
        </p:nvGraphicFramePr>
        <p:xfrm>
          <a:off x="3341333" y="2316480"/>
          <a:ext cx="5509334" cy="2225040"/>
        </p:xfrm>
        <a:graphic>
          <a:graphicData uri="http://schemas.openxmlformats.org/drawingml/2006/table">
            <a:tbl>
              <a:tblPr firstRow="1" bandRow="1">
                <a:tableStyleId>{5C22544A-7EE6-4342-B048-85BDC9FD1C3A}</a:tableStyleId>
              </a:tblPr>
              <a:tblGrid>
                <a:gridCol w="5509334">
                  <a:extLst>
                    <a:ext uri="{9D8B030D-6E8A-4147-A177-3AD203B41FA5}">
                      <a16:colId xmlns:a16="http://schemas.microsoft.com/office/drawing/2014/main" val="1248665054"/>
                    </a:ext>
                  </a:extLst>
                </a:gridCol>
              </a:tblGrid>
              <a:tr h="370840">
                <a:tc>
                  <a:txBody>
                    <a:bodyPr/>
                    <a:lstStyle/>
                    <a:p>
                      <a:pPr marL="0" algn="ctr" defTabSz="914400" rtl="0" eaLnBrk="1" latinLnBrk="0" hangingPunct="1"/>
                      <a:r>
                        <a:rPr lang="en-US" sz="1800" b="0" kern="1200" dirty="0">
                          <a:solidFill>
                            <a:schemeClr val="dk1"/>
                          </a:solidFill>
                          <a:latin typeface="+mn-lt"/>
                          <a:ea typeface="+mn-ea"/>
                          <a:cs typeface="+mn-cs"/>
                        </a:rPr>
                        <a:t>Motivation</a:t>
                      </a:r>
                    </a:p>
                  </a:txBody>
                  <a:tcPr anchor="b">
                    <a:solidFill>
                      <a:schemeClr val="accent1">
                        <a:lumMod val="40000"/>
                        <a:lumOff val="60000"/>
                      </a:schemeClr>
                    </a:solidFill>
                  </a:tcPr>
                </a:tc>
                <a:extLst>
                  <a:ext uri="{0D108BD9-81ED-4DB2-BD59-A6C34878D82A}">
                    <a16:rowId xmlns:a16="http://schemas.microsoft.com/office/drawing/2014/main" val="404223706"/>
                  </a:ext>
                </a:extLst>
              </a:tr>
              <a:tr h="370840">
                <a:tc>
                  <a:txBody>
                    <a:bodyPr/>
                    <a:lstStyle/>
                    <a:p>
                      <a:pPr algn="ctr"/>
                      <a:r>
                        <a:rPr lang="en-US" dirty="0"/>
                        <a:t>Business Question</a:t>
                      </a:r>
                    </a:p>
                  </a:txBody>
                  <a:tcPr anchor="b">
                    <a:solidFill>
                      <a:srgbClr val="B4C7E7"/>
                    </a:solidFill>
                  </a:tcPr>
                </a:tc>
                <a:extLst>
                  <a:ext uri="{0D108BD9-81ED-4DB2-BD59-A6C34878D82A}">
                    <a16:rowId xmlns:a16="http://schemas.microsoft.com/office/drawing/2014/main" val="355538206"/>
                  </a:ext>
                </a:extLst>
              </a:tr>
              <a:tr h="370840">
                <a:tc>
                  <a:txBody>
                    <a:bodyPr/>
                    <a:lstStyle/>
                    <a:p>
                      <a:pPr algn="ctr"/>
                      <a:r>
                        <a:rPr lang="en-US" dirty="0"/>
                        <a:t>Methodology</a:t>
                      </a:r>
                    </a:p>
                  </a:txBody>
                  <a:tcPr anchor="b">
                    <a:solidFill>
                      <a:srgbClr val="B4C7E7"/>
                    </a:solidFill>
                  </a:tcPr>
                </a:tc>
                <a:extLst>
                  <a:ext uri="{0D108BD9-81ED-4DB2-BD59-A6C34878D82A}">
                    <a16:rowId xmlns:a16="http://schemas.microsoft.com/office/drawing/2014/main" val="1448365020"/>
                  </a:ext>
                </a:extLst>
              </a:tr>
              <a:tr h="370840">
                <a:tc>
                  <a:txBody>
                    <a:bodyPr/>
                    <a:lstStyle/>
                    <a:p>
                      <a:pPr algn="ctr"/>
                      <a:r>
                        <a:rPr lang="en-US" dirty="0"/>
                        <a:t>Analysis</a:t>
                      </a:r>
                    </a:p>
                  </a:txBody>
                  <a:tcPr anchor="b">
                    <a:solidFill>
                      <a:srgbClr val="B4C7E7"/>
                    </a:solidFill>
                  </a:tcPr>
                </a:tc>
                <a:extLst>
                  <a:ext uri="{0D108BD9-81ED-4DB2-BD59-A6C34878D82A}">
                    <a16:rowId xmlns:a16="http://schemas.microsoft.com/office/drawing/2014/main" val="2826135216"/>
                  </a:ext>
                </a:extLst>
              </a:tr>
              <a:tr h="370840">
                <a:tc>
                  <a:txBody>
                    <a:bodyPr/>
                    <a:lstStyle/>
                    <a:p>
                      <a:pPr algn="ctr"/>
                      <a:r>
                        <a:rPr lang="en-US" dirty="0"/>
                        <a:t>Key Takeaways</a:t>
                      </a:r>
                    </a:p>
                  </a:txBody>
                  <a:tcPr anchor="b">
                    <a:solidFill>
                      <a:srgbClr val="B4C7E7"/>
                    </a:solidFill>
                  </a:tcPr>
                </a:tc>
                <a:extLst>
                  <a:ext uri="{0D108BD9-81ED-4DB2-BD59-A6C34878D82A}">
                    <a16:rowId xmlns:a16="http://schemas.microsoft.com/office/drawing/2014/main" val="4012760991"/>
                  </a:ext>
                </a:extLst>
              </a:tr>
              <a:tr h="370840">
                <a:tc>
                  <a:txBody>
                    <a:bodyPr/>
                    <a:lstStyle/>
                    <a:p>
                      <a:pPr algn="ctr"/>
                      <a:r>
                        <a:rPr lang="en-US" b="1" dirty="0">
                          <a:solidFill>
                            <a:schemeClr val="bg1"/>
                          </a:solidFill>
                        </a:rPr>
                        <a:t>Appendix</a:t>
                      </a:r>
                    </a:p>
                  </a:txBody>
                  <a:tcPr anchor="b">
                    <a:solidFill>
                      <a:srgbClr val="4472C4"/>
                    </a:solidFill>
                  </a:tcPr>
                </a:tc>
                <a:extLst>
                  <a:ext uri="{0D108BD9-81ED-4DB2-BD59-A6C34878D82A}">
                    <a16:rowId xmlns:a16="http://schemas.microsoft.com/office/drawing/2014/main" val="3631025880"/>
                  </a:ext>
                </a:extLst>
              </a:tr>
            </a:tbl>
          </a:graphicData>
        </a:graphic>
      </p:graphicFrame>
      <p:sp>
        <p:nvSpPr>
          <p:cNvPr id="4" name="Rectangle 3">
            <a:extLst>
              <a:ext uri="{FF2B5EF4-FFF2-40B4-BE49-F238E27FC236}">
                <a16:creationId xmlns:a16="http://schemas.microsoft.com/office/drawing/2014/main" id="{F0C37E35-0772-43B2-80A6-DD3CAA04436B}"/>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spTree>
    <p:extLst>
      <p:ext uri="{BB962C8B-B14F-4D97-AF65-F5344CB8AC3E}">
        <p14:creationId xmlns:p14="http://schemas.microsoft.com/office/powerpoint/2010/main" val="3996112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04E5D-A192-466C-905D-EED29B39E969}"/>
              </a:ext>
            </a:extLst>
          </p:cNvPr>
          <p:cNvSpPr>
            <a:spLocks noGrp="1"/>
          </p:cNvSpPr>
          <p:nvPr>
            <p:ph type="title"/>
          </p:nvPr>
        </p:nvSpPr>
        <p:spPr>
          <a:xfrm>
            <a:off x="838200" y="365125"/>
            <a:ext cx="10515600" cy="1325563"/>
          </a:xfrm>
        </p:spPr>
        <p:txBody>
          <a:bodyPr>
            <a:normAutofit/>
          </a:bodyPr>
          <a:lstStyle/>
          <a:p>
            <a:r>
              <a:rPr lang="en-US" sz="3600" dirty="0">
                <a:solidFill>
                  <a:schemeClr val="accent1">
                    <a:lumMod val="75000"/>
                  </a:schemeClr>
                </a:solidFill>
              </a:rPr>
              <a:t>Techniques used to clean the data </a:t>
            </a:r>
          </a:p>
        </p:txBody>
      </p:sp>
      <p:sp>
        <p:nvSpPr>
          <p:cNvPr id="3" name="Content Placeholder 2">
            <a:extLst>
              <a:ext uri="{FF2B5EF4-FFF2-40B4-BE49-F238E27FC236}">
                <a16:creationId xmlns:a16="http://schemas.microsoft.com/office/drawing/2014/main" id="{A30C6FE5-EC7B-4498-AB05-9830979F6A9D}"/>
              </a:ext>
            </a:extLst>
          </p:cNvPr>
          <p:cNvSpPr>
            <a:spLocks noGrp="1"/>
          </p:cNvSpPr>
          <p:nvPr>
            <p:ph idx="1"/>
          </p:nvPr>
        </p:nvSpPr>
        <p:spPr/>
        <p:txBody>
          <a:bodyPr/>
          <a:lstStyle/>
          <a:p>
            <a:r>
              <a:rPr lang="en-US" dirty="0"/>
              <a:t>Removed </a:t>
            </a:r>
            <a:r>
              <a:rPr lang="en-US" dirty="0" err="1"/>
              <a:t>stopwords</a:t>
            </a:r>
            <a:r>
              <a:rPr lang="en-US" dirty="0"/>
              <a:t> </a:t>
            </a:r>
          </a:p>
          <a:p>
            <a:r>
              <a:rPr lang="en-US" dirty="0"/>
              <a:t>Removed punctuations</a:t>
            </a:r>
          </a:p>
          <a:p>
            <a:r>
              <a:rPr lang="en-US" dirty="0"/>
              <a:t>Stripped white space </a:t>
            </a:r>
          </a:p>
          <a:p>
            <a:r>
              <a:rPr lang="en-US" dirty="0"/>
              <a:t>Replaced abbreviation</a:t>
            </a:r>
          </a:p>
          <a:p>
            <a:r>
              <a:rPr lang="en-US" dirty="0"/>
              <a:t>Replaced contraction</a:t>
            </a:r>
          </a:p>
          <a:p>
            <a:r>
              <a:rPr lang="en-US" dirty="0"/>
              <a:t>Replaced ordinal</a:t>
            </a:r>
          </a:p>
          <a:p>
            <a:r>
              <a:rPr lang="en-US" dirty="0"/>
              <a:t>Replaced symbol</a:t>
            </a:r>
          </a:p>
          <a:p>
            <a:r>
              <a:rPr lang="en-US" dirty="0"/>
              <a:t>Changed to lower case</a:t>
            </a:r>
          </a:p>
        </p:txBody>
      </p:sp>
      <p:sp>
        <p:nvSpPr>
          <p:cNvPr id="4" name="Rectangle 3">
            <a:extLst>
              <a:ext uri="{FF2B5EF4-FFF2-40B4-BE49-F238E27FC236}">
                <a16:creationId xmlns:a16="http://schemas.microsoft.com/office/drawing/2014/main" id="{548762F8-1DCD-436F-B513-7E19083ACDE3}"/>
              </a:ext>
            </a:extLst>
          </p:cNvPr>
          <p:cNvSpPr/>
          <p:nvPr/>
        </p:nvSpPr>
        <p:spPr>
          <a:xfrm>
            <a:off x="0" y="6410227"/>
            <a:ext cx="12192000" cy="447773"/>
          </a:xfrm>
          <a:prstGeom prst="rect">
            <a:avLst/>
          </a:prstGeom>
          <a:solidFill>
            <a:srgbClr val="00437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t>Sentiment Analysis - Drexel University </a:t>
            </a:r>
          </a:p>
        </p:txBody>
      </p:sp>
      <p:pic>
        <p:nvPicPr>
          <p:cNvPr id="6" name="Picture 5">
            <a:extLst>
              <a:ext uri="{FF2B5EF4-FFF2-40B4-BE49-F238E27FC236}">
                <a16:creationId xmlns:a16="http://schemas.microsoft.com/office/drawing/2014/main" id="{B7FF5F6E-8E64-47E5-B36A-788E8339C777}"/>
              </a:ext>
            </a:extLst>
          </p:cNvPr>
          <p:cNvPicPr>
            <a:picLocks noChangeAspect="1"/>
          </p:cNvPicPr>
          <p:nvPr/>
        </p:nvPicPr>
        <p:blipFill>
          <a:blip r:embed="rId3"/>
          <a:stretch>
            <a:fillRect/>
          </a:stretch>
        </p:blipFill>
        <p:spPr>
          <a:xfrm>
            <a:off x="6323465" y="1703341"/>
            <a:ext cx="4321790" cy="2168424"/>
          </a:xfrm>
          <a:prstGeom prst="rect">
            <a:avLst/>
          </a:prstGeom>
        </p:spPr>
      </p:pic>
      <p:pic>
        <p:nvPicPr>
          <p:cNvPr id="7" name="Picture 6">
            <a:extLst>
              <a:ext uri="{FF2B5EF4-FFF2-40B4-BE49-F238E27FC236}">
                <a16:creationId xmlns:a16="http://schemas.microsoft.com/office/drawing/2014/main" id="{C88FADBF-6EAC-473C-904B-F0F31FF0BA06}"/>
              </a:ext>
            </a:extLst>
          </p:cNvPr>
          <p:cNvPicPr>
            <a:picLocks noChangeAspect="1"/>
          </p:cNvPicPr>
          <p:nvPr/>
        </p:nvPicPr>
        <p:blipFill>
          <a:blip r:embed="rId4"/>
          <a:stretch>
            <a:fillRect/>
          </a:stretch>
        </p:blipFill>
        <p:spPr>
          <a:xfrm>
            <a:off x="5546175" y="4132325"/>
            <a:ext cx="5908078" cy="1838670"/>
          </a:xfrm>
          <a:prstGeom prst="rect">
            <a:avLst/>
          </a:prstGeom>
        </p:spPr>
      </p:pic>
    </p:spTree>
    <p:extLst>
      <p:ext uri="{BB962C8B-B14F-4D97-AF65-F5344CB8AC3E}">
        <p14:creationId xmlns:p14="http://schemas.microsoft.com/office/powerpoint/2010/main" val="3820072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BE1096-7092-44CE-9953-514CB675D1D8}"/>
              </a:ext>
            </a:extLst>
          </p:cNvPr>
          <p:cNvSpPr txBox="1"/>
          <p:nvPr/>
        </p:nvSpPr>
        <p:spPr>
          <a:xfrm>
            <a:off x="747252" y="462116"/>
            <a:ext cx="3319948" cy="646331"/>
          </a:xfrm>
          <a:prstGeom prst="rect">
            <a:avLst/>
          </a:prstGeom>
          <a:noFill/>
        </p:spPr>
        <p:txBody>
          <a:bodyPr wrap="none" rtlCol="0">
            <a:spAutoFit/>
          </a:bodyPr>
          <a:lstStyle/>
          <a:p>
            <a:r>
              <a:rPr lang="en-US" sz="3600" dirty="0">
                <a:solidFill>
                  <a:schemeClr val="accent1">
                    <a:lumMod val="75000"/>
                  </a:schemeClr>
                </a:solidFill>
                <a:latin typeface="+mj-lt"/>
                <a:ea typeface="+mj-ea"/>
                <a:cs typeface="+mj-cs"/>
              </a:rPr>
              <a:t>Scoring / Polarity</a:t>
            </a:r>
          </a:p>
        </p:txBody>
      </p:sp>
      <p:pic>
        <p:nvPicPr>
          <p:cNvPr id="5" name="Picture 4">
            <a:extLst>
              <a:ext uri="{FF2B5EF4-FFF2-40B4-BE49-F238E27FC236}">
                <a16:creationId xmlns:a16="http://schemas.microsoft.com/office/drawing/2014/main" id="{53C5AFDA-31B4-4734-AB95-FD3FD2B9891E}"/>
              </a:ext>
            </a:extLst>
          </p:cNvPr>
          <p:cNvPicPr>
            <a:picLocks noChangeAspect="1"/>
          </p:cNvPicPr>
          <p:nvPr/>
        </p:nvPicPr>
        <p:blipFill>
          <a:blip r:embed="rId2"/>
          <a:stretch>
            <a:fillRect/>
          </a:stretch>
        </p:blipFill>
        <p:spPr>
          <a:xfrm>
            <a:off x="747252" y="1376209"/>
            <a:ext cx="9591675" cy="5019675"/>
          </a:xfrm>
          <a:prstGeom prst="rect">
            <a:avLst/>
          </a:prstGeom>
        </p:spPr>
      </p:pic>
      <p:sp>
        <p:nvSpPr>
          <p:cNvPr id="2" name="Rectangle 1">
            <a:extLst>
              <a:ext uri="{FF2B5EF4-FFF2-40B4-BE49-F238E27FC236}">
                <a16:creationId xmlns:a16="http://schemas.microsoft.com/office/drawing/2014/main" id="{A2DE4B44-F2D8-4D25-920F-181FC07638D7}"/>
              </a:ext>
            </a:extLst>
          </p:cNvPr>
          <p:cNvSpPr/>
          <p:nvPr/>
        </p:nvSpPr>
        <p:spPr>
          <a:xfrm>
            <a:off x="5447071" y="4168877"/>
            <a:ext cx="1356852" cy="2163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3129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9189E5-DA7B-4612-A436-5B8858D16948}"/>
              </a:ext>
            </a:extLst>
          </p:cNvPr>
          <p:cNvSpPr txBox="1"/>
          <p:nvPr/>
        </p:nvSpPr>
        <p:spPr>
          <a:xfrm>
            <a:off x="983226" y="452284"/>
            <a:ext cx="4227871" cy="646331"/>
          </a:xfrm>
          <a:prstGeom prst="rect">
            <a:avLst/>
          </a:prstGeom>
          <a:noFill/>
        </p:spPr>
        <p:txBody>
          <a:bodyPr wrap="square" rtlCol="0">
            <a:spAutoFit/>
          </a:bodyPr>
          <a:lstStyle/>
          <a:p>
            <a:r>
              <a:rPr lang="en-US" sz="3600" dirty="0">
                <a:solidFill>
                  <a:schemeClr val="accent1">
                    <a:lumMod val="75000"/>
                  </a:schemeClr>
                </a:solidFill>
                <a:latin typeface="+mj-lt"/>
                <a:ea typeface="+mj-ea"/>
                <a:cs typeface="+mj-cs"/>
              </a:rPr>
              <a:t>Word Cloud Analysis</a:t>
            </a:r>
          </a:p>
        </p:txBody>
      </p:sp>
      <p:pic>
        <p:nvPicPr>
          <p:cNvPr id="5" name="Picture 4">
            <a:extLst>
              <a:ext uri="{FF2B5EF4-FFF2-40B4-BE49-F238E27FC236}">
                <a16:creationId xmlns:a16="http://schemas.microsoft.com/office/drawing/2014/main" id="{EAB4FDF7-F6F3-41CE-BBCF-41C77B00C0C3}"/>
              </a:ext>
            </a:extLst>
          </p:cNvPr>
          <p:cNvPicPr>
            <a:picLocks noChangeAspect="1"/>
          </p:cNvPicPr>
          <p:nvPr/>
        </p:nvPicPr>
        <p:blipFill>
          <a:blip r:embed="rId2"/>
          <a:stretch>
            <a:fillRect/>
          </a:stretch>
        </p:blipFill>
        <p:spPr>
          <a:xfrm>
            <a:off x="983226" y="1606498"/>
            <a:ext cx="10001250" cy="4352925"/>
          </a:xfrm>
          <a:prstGeom prst="rect">
            <a:avLst/>
          </a:prstGeom>
        </p:spPr>
      </p:pic>
    </p:spTree>
    <p:extLst>
      <p:ext uri="{BB962C8B-B14F-4D97-AF65-F5344CB8AC3E}">
        <p14:creationId xmlns:p14="http://schemas.microsoft.com/office/powerpoint/2010/main" val="2971501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4542DA-AB23-4502-AEA4-4050D7980481}"/>
              </a:ext>
            </a:extLst>
          </p:cNvPr>
          <p:cNvSpPr txBox="1"/>
          <p:nvPr/>
        </p:nvSpPr>
        <p:spPr>
          <a:xfrm>
            <a:off x="786581" y="393290"/>
            <a:ext cx="2416046" cy="646331"/>
          </a:xfrm>
          <a:prstGeom prst="rect">
            <a:avLst/>
          </a:prstGeom>
          <a:noFill/>
        </p:spPr>
        <p:txBody>
          <a:bodyPr wrap="none" rtlCol="0">
            <a:spAutoFit/>
          </a:bodyPr>
          <a:lstStyle/>
          <a:p>
            <a:r>
              <a:rPr lang="en-US" sz="3600" dirty="0">
                <a:solidFill>
                  <a:schemeClr val="accent1">
                    <a:lumMod val="75000"/>
                  </a:schemeClr>
                </a:solidFill>
                <a:latin typeface="+mj-lt"/>
                <a:ea typeface="+mj-ea"/>
                <a:cs typeface="+mj-cs"/>
              </a:rPr>
              <a:t>Comparison</a:t>
            </a:r>
          </a:p>
        </p:txBody>
      </p:sp>
      <p:pic>
        <p:nvPicPr>
          <p:cNvPr id="1026" name="Picture 3" descr="image003">
            <a:extLst>
              <a:ext uri="{FF2B5EF4-FFF2-40B4-BE49-F238E27FC236}">
                <a16:creationId xmlns:a16="http://schemas.microsoft.com/office/drawing/2014/main" id="{E836D9D9-C571-4084-A6A9-6AFC9A3756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581" y="1604211"/>
            <a:ext cx="9094838" cy="4793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959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694</TotalTime>
  <Words>855</Words>
  <Application>Microsoft Office PowerPoint</Application>
  <PresentationFormat>Widescreen</PresentationFormat>
  <Paragraphs>150</Paragraphs>
  <Slides>29</Slides>
  <Notes>9</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Presented  by – Parag Paliwal, Yushan Cai, Vinay Gandhi, Mayuresh Wani, Madhura Pande, Drashti Shah</vt:lpstr>
      <vt:lpstr>Agenda</vt:lpstr>
      <vt:lpstr>Follow the future…</vt:lpstr>
      <vt:lpstr>Agenda</vt:lpstr>
      <vt:lpstr>What is the impact of artificial intelligence on the music industry?</vt:lpstr>
      <vt:lpstr>Agenda</vt:lpstr>
      <vt:lpstr>Methodology </vt:lpstr>
      <vt:lpstr>Agenda</vt:lpstr>
      <vt:lpstr>Pandora observes a dip in the negative comments after 2012…</vt:lpstr>
      <vt:lpstr>…However, there is an increase in the negative comments for Spotify from 2014 – 2016</vt:lpstr>
      <vt:lpstr>Amazon music manages to garner positive comments over the years…</vt:lpstr>
      <vt:lpstr>PowerPoint Presentation</vt:lpstr>
      <vt:lpstr>…As consumers appreciate Prime Music</vt:lpstr>
      <vt:lpstr>Amazon scoring</vt:lpstr>
      <vt:lpstr>Some key events of 2015…</vt:lpstr>
      <vt:lpstr>Some more key events in 2015…</vt:lpstr>
      <vt:lpstr>Mentions of AI related terms continue to increase significantly…</vt:lpstr>
      <vt:lpstr>…With AI topping the charts</vt:lpstr>
      <vt:lpstr>Pandora realizes AI being the need of an hour…</vt:lpstr>
      <vt:lpstr>…And Spotify follows the suit</vt:lpstr>
      <vt:lpstr>The demand for AI is increasing every minute</vt:lpstr>
      <vt:lpstr>Agenda</vt:lpstr>
      <vt:lpstr>What is the impact of AI on Music Industry?</vt:lpstr>
      <vt:lpstr>PowerPoint Presentation</vt:lpstr>
      <vt:lpstr>Agenda</vt:lpstr>
      <vt:lpstr>Techniques used to clean the data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Presented  by – Parag Paliwal, Drashti Shah, Yushan Cai, Madhura Pande, Vinay Gandhi, Mayuresh Wani</dc:title>
  <dc:creator>Shah,Drashti</dc:creator>
  <cp:lastModifiedBy>Pande,Madhura</cp:lastModifiedBy>
  <cp:revision>113</cp:revision>
  <dcterms:created xsi:type="dcterms:W3CDTF">2018-11-25T00:25:12Z</dcterms:created>
  <dcterms:modified xsi:type="dcterms:W3CDTF">2018-11-26T16:44:48Z</dcterms:modified>
</cp:coreProperties>
</file>